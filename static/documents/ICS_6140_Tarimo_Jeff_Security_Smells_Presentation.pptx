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My name is Tarimo Jeff, and today I am presenting for ICS 6140 Computer Systems Security on the topic of Secure Software Development. I will be presenting an empirical paper published at ICSE 2019 by researchers from North Carolina State University titled 'The Seven Sins: Security Smells in Infrastructure as Code Scripts'. This paper bridges the critical gap between software configuration management and cybersecurity.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Infrastructure as Code has revolutionized DevOps by transforming hardware and cloud provisioning into software code. However, this shift creates a major attack surface: security weaknesses in scripts are deployed directly to production infrastructure. The authors introduce the concept of 'security smells'—coding patterns that signal deeper software security weaknesses.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formulates four central research questions: RQ1 categorizes what smells exist; RQ2 measures their prevalence across massive datasets; RQ3 investigates how long these flaws persist before being fixed; and RQ4 tests whether software developers actually accept them as actionable security flaws.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authors used a rigorous two-step methodological pipeline. First, 565 hours of qualitative descriptive coding derived the smells from 1,726 scripts with perfect inter-rater agreement. Second, they developed SLIC (Security Linter for Infrastructure as Code), a static analysis tool that parses code into token vectors and checks them against formal rule sets. SLIC achieved 99% precision and recall on the curated oracle dataset.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Seven Sins identified in the paper: Admin by Default, Empty Password, Hard-coded Secrets, Invalid IP Binding (0.0.0.0), Suspicious Comments (TODO/FIXME), HTTP Without TLS, and Weak Cryptography. Each sin directly maps to standard CWE identifiers.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empirical results are striking: across more than 15,000 scripts, the authors discovered over 21,000 security smells. Hard-coded secrets accounted for approximately 80% of all smells, including over 1,300 plaintext passwords. Public GitHub repositories were especially vulnerable, exhibiting double the smell density of strictly managed organizations like Mozilla.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longevity (RQ3), hard-coded secrets persisted in master branches for up to 8 years unnoticed. Furthermore, in RQ4, the authors submitted 1,000 real bug reports and achieved a 64.4% acceptance rate from maintainers who actively patched their code. Where developers disagreed, it highlighted a dangerous cognitive bias: treating test and localhost environments as harmless when they can actually propagate insecure practices.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critical evaluation for our course, we must recognize four major gaps in this paper: First, it focuses exclusively on Puppet rather than multi-cloud Terraform or Ansible; Second, regex heuristics face false positives in test mocks; Third, it lacks runtime taint analysis to verify actual exploitability; And fourth, it detects problems without providing automated repair mechanisms.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industry and secure software development practitioners, this research offers four clear takeaways: Shift security left into CI/CD pipelines; enforce centralized secrets vaults rather than hard-coding config files; ensure secure-by-default network bindings; and educate developers to eliminate insecure test scripts.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Rahman et al.'s work underscores that infrastructure code cannot be overlooked in modern cybersecurity. By identifying these seven security sins and integrating automated linters into software pipelines, organizations can build truly secure, resilient cloud environments. Thank you for your attention. I welcome any questions or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822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097280"/>
            <a:ext cx="9784080" cy="365760"/>
          </a:xfrm>
          <a:prstGeom prst="rect">
            <a:avLst/>
          </a:prstGeom>
          <a:noFill/>
        </p:spPr>
        <p:txBody>
          <a:bodyPr wrap="none">
            <a:spAutoFit/>
          </a:bodyPr>
          <a:lstStyle/>
          <a:p>
            <a:pPr>
              <a:defRPr sz="1200" b="1">
                <a:solidFill>
                  <a:srgbClr val="06B6D4"/>
                </a:solidFill>
              </a:defRPr>
            </a:pPr>
            <a:r>
              <a:t>ICS 6140: COMPUTER SYSTEMS SECURITY  |  WEEK 1 PRESENTATION</a:t>
            </a:r>
          </a:p>
        </p:txBody>
      </p:sp>
      <p:sp>
        <p:nvSpPr>
          <p:cNvPr id="5" name="TextBox 4"/>
          <p:cNvSpPr txBox="1"/>
          <p:nvPr/>
        </p:nvSpPr>
        <p:spPr>
          <a:xfrm>
            <a:off x="1188720" y="1463040"/>
            <a:ext cx="9784080" cy="1645920"/>
          </a:xfrm>
          <a:prstGeom prst="rect">
            <a:avLst/>
          </a:prstGeom>
          <a:noFill/>
        </p:spPr>
        <p:txBody>
          <a:bodyPr wrap="square">
            <a:spAutoFit/>
          </a:bodyPr>
          <a:lstStyle/>
          <a:p>
            <a:pPr>
              <a:defRPr sz="3200" b="1">
                <a:solidFill>
                  <a:srgbClr val="FFFFFF"/>
                </a:solidFill>
              </a:defRPr>
            </a:pPr>
            <a:r>
              <a:t>The Seven Sins: Security Smells in</a:t>
            </a:r>
            <a:br/>
            <a:r>
              <a:t>Infrastructure as Code Scripts</a:t>
            </a:r>
          </a:p>
        </p:txBody>
      </p:sp>
      <p:sp>
        <p:nvSpPr>
          <p:cNvPr id="6" name="Rectangle 5"/>
          <p:cNvSpPr/>
          <p:nvPr/>
        </p:nvSpPr>
        <p:spPr>
          <a:xfrm>
            <a:off x="1188720" y="3291840"/>
            <a:ext cx="9784080"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566160"/>
            <a:ext cx="5486400" cy="2103120"/>
          </a:xfrm>
          <a:prstGeom prst="rect">
            <a:avLst/>
          </a:prstGeom>
          <a:noFill/>
        </p:spPr>
        <p:txBody>
          <a:bodyPr wrap="square">
            <a:spAutoFit/>
          </a:bodyPr>
          <a:lstStyle/>
          <a:p>
            <a:pPr>
              <a:defRPr sz="1400" b="1">
                <a:solidFill>
                  <a:srgbClr val="3B82F6"/>
                </a:solidFill>
              </a:defRPr>
            </a:pPr>
            <a:r>
              <a:t>Presentation Topic: Secure Software Development</a:t>
            </a:r>
          </a:p>
          <a:p>
            <a:pPr>
              <a:spcBef>
                <a:spcPts val="800"/>
              </a:spcBef>
              <a:defRPr sz="1200">
                <a:solidFill>
                  <a:srgbClr val="E2E8F0"/>
                </a:solidFill>
              </a:defRPr>
            </a:pPr>
            <a:r>
              <a:t>Paper Authors: Akond Rahman, Chris Parnin, &amp; Laurie Williams</a:t>
            </a:r>
            <a:br/>
            <a:r>
              <a:t>North Carolina State University</a:t>
            </a:r>
          </a:p>
          <a:p>
            <a:pPr>
              <a:spcBef>
                <a:spcPts val="600"/>
              </a:spcBef>
              <a:defRPr sz="1100" i="1">
                <a:solidFill>
                  <a:srgbClr val="94A3B8"/>
                </a:solidFill>
              </a:defRPr>
            </a:pPr>
            <a:r>
              <a:t>Venue: IEEE/ACM International Conference on Software Engineering (ICSE 2019)</a:t>
            </a:r>
          </a:p>
        </p:txBody>
      </p:sp>
      <p:sp>
        <p:nvSpPr>
          <p:cNvPr id="8" name="Rounded Rectangle 7"/>
          <p:cNvSpPr/>
          <p:nvPr/>
        </p:nvSpPr>
        <p:spPr>
          <a:xfrm>
            <a:off x="7132320" y="3566160"/>
            <a:ext cx="3840480" cy="2011680"/>
          </a:xfrm>
          <a:prstGeom prst="roundRect">
            <a:avLst/>
          </a:prstGeom>
          <a:solidFill>
            <a:srgbClr val="0F172A"/>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3749039"/>
            <a:ext cx="3291840" cy="1645920"/>
          </a:xfrm>
          <a:prstGeom prst="rect">
            <a:avLst/>
          </a:prstGeom>
          <a:noFill/>
        </p:spPr>
        <p:txBody>
          <a:bodyPr wrap="square">
            <a:spAutoFit/>
          </a:bodyPr>
          <a:lstStyle/>
          <a:p>
            <a:pPr>
              <a:defRPr sz="1000" b="1">
                <a:solidFill>
                  <a:srgbClr val="06B6D4"/>
                </a:solidFill>
              </a:defRPr>
            </a:pPr>
            <a:r>
              <a:t>PRESENTER</a:t>
            </a:r>
          </a:p>
          <a:p>
            <a:pPr>
              <a:spcBef>
                <a:spcPts val="400"/>
              </a:spcBef>
              <a:defRPr sz="2000" b="1">
                <a:solidFill>
                  <a:srgbClr val="FFFFFF"/>
                </a:solidFill>
              </a:defRPr>
            </a:pPr>
            <a:r>
              <a:t>Tarimo Jeff</a:t>
            </a:r>
          </a:p>
          <a:p>
            <a:pPr>
              <a:spcBef>
                <a:spcPts val="600"/>
              </a:spcBef>
              <a:defRPr sz="1100">
                <a:solidFill>
                  <a:srgbClr val="94A3B8"/>
                </a:solidFill>
              </a:defRPr>
            </a:pPr>
            <a:r>
              <a:t>MSc. Computer Systems Security</a:t>
            </a:r>
            <a:br/>
            <a:r>
              <a:t>Department of Computing &amp;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WEEK 1</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Background: The Evolution &amp; Security Challenges of IaC</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3328416" cy="4754880"/>
          </a:xfrm>
          <a:prstGeom prst="roundRect">
            <a:avLst/>
          </a:prstGeom>
          <a:solidFill>
            <a:srgbClr val="182235"/>
          </a:solidFill>
          <a:ln w="1905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2962656" cy="4389120"/>
          </a:xfrm>
          <a:prstGeom prst="rect">
            <a:avLst/>
          </a:prstGeom>
          <a:noFill/>
        </p:spPr>
        <p:txBody>
          <a:bodyPr wrap="square">
            <a:spAutoFit/>
          </a:bodyPr>
          <a:lstStyle/>
          <a:p>
            <a:pPr>
              <a:defRPr sz="1600" b="1">
                <a:solidFill>
                  <a:srgbClr val="06B6D4"/>
                </a:solidFill>
              </a:defRPr>
            </a:pPr>
            <a:r>
              <a:t>1. The Rise of IaC</a:t>
            </a:r>
          </a:p>
          <a:p>
            <a:pPr>
              <a:spcBef>
                <a:spcPts val="1000"/>
              </a:spcBef>
              <a:defRPr sz="1200">
                <a:solidFill>
                  <a:srgbClr val="E2E8F0"/>
                </a:solidFill>
              </a:defRPr>
            </a:pPr>
            <a:r>
              <a:t>• Infrastructure as Code (IaC) defines server setups, network configurations, and services programmatically via scripts (e.g., Puppet, Chef).</a:t>
            </a:r>
          </a:p>
          <a:p>
            <a:pPr>
              <a:spcBef>
                <a:spcPts val="1000"/>
              </a:spcBef>
              <a:defRPr sz="1200">
                <a:solidFill>
                  <a:srgbClr val="E2E8F0"/>
                </a:solidFill>
              </a:defRPr>
            </a:pPr>
            <a:r>
              <a:t>• Enables automated, repeatable, and scalable server provisioning.</a:t>
            </a:r>
          </a:p>
          <a:p>
            <a:pPr>
              <a:spcBef>
                <a:spcPts val="1000"/>
              </a:spcBef>
              <a:defRPr sz="1200">
                <a:solidFill>
                  <a:srgbClr val="E2E8F0"/>
                </a:solidFill>
              </a:defRPr>
            </a:pPr>
            <a:r>
              <a:t>• Industrial impact: Intercontinental Exchange (ICE) reduced provisioning time from 1-2 days down to 21 minutes across 20,000 servers.</a:t>
            </a:r>
          </a:p>
        </p:txBody>
      </p:sp>
      <p:sp>
        <p:nvSpPr>
          <p:cNvPr id="8" name="Rounded Rectangle 7"/>
          <p:cNvSpPr/>
          <p:nvPr/>
        </p:nvSpPr>
        <p:spPr>
          <a:xfrm>
            <a:off x="4425696" y="1554480"/>
            <a:ext cx="3328416" cy="4754880"/>
          </a:xfrm>
          <a:prstGeom prst="roundRect">
            <a:avLst/>
          </a:prstGeom>
          <a:solidFill>
            <a:srgbClr val="182235"/>
          </a:solidFill>
          <a:ln w="1905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1737360"/>
            <a:ext cx="2962656" cy="4389120"/>
          </a:xfrm>
          <a:prstGeom prst="rect">
            <a:avLst/>
          </a:prstGeom>
          <a:noFill/>
        </p:spPr>
        <p:txBody>
          <a:bodyPr wrap="square">
            <a:spAutoFit/>
          </a:bodyPr>
          <a:lstStyle/>
          <a:p>
            <a:pPr>
              <a:defRPr sz="1600" b="1">
                <a:solidFill>
                  <a:srgbClr val="EF4444"/>
                </a:solidFill>
              </a:defRPr>
            </a:pPr>
            <a:r>
              <a:t>2. The Security Blindspot</a:t>
            </a:r>
          </a:p>
          <a:p>
            <a:pPr>
              <a:spcBef>
                <a:spcPts val="1000"/>
              </a:spcBef>
              <a:defRPr sz="1200">
                <a:solidFill>
                  <a:srgbClr val="E2E8F0"/>
                </a:solidFill>
              </a:defRPr>
            </a:pPr>
            <a:r>
              <a:t>• IaC scripts are executable code, yet historically treated merely as operations scripts without rigorous security reviews.</a:t>
            </a:r>
          </a:p>
          <a:p>
            <a:pPr>
              <a:spcBef>
                <a:spcPts val="1000"/>
              </a:spcBef>
              <a:defRPr sz="1200">
                <a:solidFill>
                  <a:srgbClr val="E2E8F0"/>
                </a:solidFill>
              </a:defRPr>
            </a:pPr>
            <a:r>
              <a:t>• Developers inadvertently introduce insecure coding patterns into configuration logic.</a:t>
            </a:r>
          </a:p>
          <a:p>
            <a:pPr>
              <a:spcBef>
                <a:spcPts val="1000"/>
              </a:spcBef>
              <a:defRPr sz="1200">
                <a:solidFill>
                  <a:srgbClr val="E2E8F0"/>
                </a:solidFill>
              </a:defRPr>
            </a:pPr>
            <a:r>
              <a:t>• A single flaw in an IaC script replicates across thousands of production servers in automated CI/CD pipelines.</a:t>
            </a:r>
          </a:p>
        </p:txBody>
      </p:sp>
      <p:sp>
        <p:nvSpPr>
          <p:cNvPr id="10" name="Rounded Rectangle 9"/>
          <p:cNvSpPr/>
          <p:nvPr/>
        </p:nvSpPr>
        <p:spPr>
          <a:xfrm>
            <a:off x="8119872" y="1554480"/>
            <a:ext cx="3328416" cy="4754880"/>
          </a:xfrm>
          <a:prstGeom prst="roundRect">
            <a:avLst/>
          </a:prstGeom>
          <a:solidFill>
            <a:srgbClr val="182235"/>
          </a:solidFill>
          <a:ln w="1905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1737360"/>
            <a:ext cx="2962656" cy="4389120"/>
          </a:xfrm>
          <a:prstGeom prst="rect">
            <a:avLst/>
          </a:prstGeom>
          <a:noFill/>
        </p:spPr>
        <p:txBody>
          <a:bodyPr wrap="square">
            <a:spAutoFit/>
          </a:bodyPr>
          <a:lstStyle/>
          <a:p>
            <a:pPr>
              <a:defRPr sz="1600" b="1">
                <a:solidFill>
                  <a:srgbClr val="F59E0B"/>
                </a:solidFill>
              </a:defRPr>
            </a:pPr>
            <a:r>
              <a:t>3. What is a Security Smell?</a:t>
            </a:r>
          </a:p>
          <a:p>
            <a:pPr>
              <a:spcBef>
                <a:spcPts val="1000"/>
              </a:spcBef>
              <a:defRPr sz="1200">
                <a:solidFill>
                  <a:srgbClr val="E2E8F0"/>
                </a:solidFill>
              </a:defRPr>
            </a:pPr>
            <a:r>
              <a:t>• Definition: A recurring coding pattern indicative of an underlying software security weakness.</a:t>
            </a:r>
          </a:p>
          <a:p>
            <a:pPr>
              <a:spcBef>
                <a:spcPts val="1000"/>
              </a:spcBef>
              <a:defRPr sz="1200">
                <a:solidFill>
                  <a:srgbClr val="E2E8F0"/>
                </a:solidFill>
              </a:defRPr>
            </a:pPr>
            <a:r>
              <a:t>• Distinction: A smell is not necessarily an active exploit/vulnerability by itself, but signals severe design weakness.</a:t>
            </a:r>
          </a:p>
          <a:p>
            <a:pPr>
              <a:spcBef>
                <a:spcPts val="1000"/>
              </a:spcBef>
              <a:defRPr sz="1200">
                <a:solidFill>
                  <a:srgbClr val="E2E8F0"/>
                </a:solidFill>
              </a:defRPr>
            </a:pPr>
            <a:r>
              <a:t>• Mapped systematically to Common Weakness Enumeration (CWE) industry security standards.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WEEK 1</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Research Questions Addressed in the Study</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10728655" cy="1078992"/>
          </a:xfrm>
          <a:prstGeom prst="roundRect">
            <a:avLst/>
          </a:prstGeom>
          <a:solidFill>
            <a:srgbClr val="1822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10332720" cy="896112"/>
          </a:xfrm>
          <a:prstGeom prst="rect">
            <a:avLst/>
          </a:prstGeom>
          <a:noFill/>
        </p:spPr>
        <p:txBody>
          <a:bodyPr wrap="square">
            <a:spAutoFit/>
          </a:bodyPr>
          <a:lstStyle/>
          <a:p>
            <a:pPr>
              <a:defRPr sz="1400" b="1">
                <a:solidFill>
                  <a:srgbClr val="3B82F6"/>
                </a:solidFill>
              </a:defRPr>
            </a:pPr>
            <a:r>
              <a:t>RQ1: Taxonomy &amp; Identification</a:t>
            </a:r>
          </a:p>
          <a:p>
            <a:pPr>
              <a:spcBef>
                <a:spcPts val="300"/>
              </a:spcBef>
              <a:defRPr sz="1100">
                <a:solidFill>
                  <a:srgbClr val="E2E8F0"/>
                </a:solidFill>
              </a:defRPr>
            </a:pPr>
            <a:r>
              <a:t>What specific security smells occur in Infrastructure as Code scripts? — Identified 7 distinct security smells via qualitative analysis of 1,726 scripts and mapped them to formal CWE definitions.</a:t>
            </a:r>
          </a:p>
        </p:txBody>
      </p:sp>
      <p:sp>
        <p:nvSpPr>
          <p:cNvPr id="8" name="Rounded Rectangle 7"/>
          <p:cNvSpPr/>
          <p:nvPr/>
        </p:nvSpPr>
        <p:spPr>
          <a:xfrm>
            <a:off x="731520" y="2761488"/>
            <a:ext cx="10728655" cy="1078992"/>
          </a:xfrm>
          <a:prstGeom prst="roundRect">
            <a:avLst/>
          </a:prstGeom>
          <a:solidFill>
            <a:srgbClr val="1822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52928"/>
            <a:ext cx="10332720" cy="896112"/>
          </a:xfrm>
          <a:prstGeom prst="rect">
            <a:avLst/>
          </a:prstGeom>
          <a:noFill/>
        </p:spPr>
        <p:txBody>
          <a:bodyPr wrap="square">
            <a:spAutoFit/>
          </a:bodyPr>
          <a:lstStyle/>
          <a:p>
            <a:pPr>
              <a:defRPr sz="1400" b="1">
                <a:solidFill>
                  <a:srgbClr val="06B6D4"/>
                </a:solidFill>
              </a:defRPr>
            </a:pPr>
            <a:r>
              <a:t>RQ2: Frequency &amp; Distribution</a:t>
            </a:r>
          </a:p>
          <a:p>
            <a:pPr>
              <a:spcBef>
                <a:spcPts val="300"/>
              </a:spcBef>
              <a:defRPr sz="1100">
                <a:solidFill>
                  <a:srgbClr val="E2E8F0"/>
                </a:solidFill>
              </a:defRPr>
            </a:pPr>
            <a:r>
              <a:t>How frequently do security smells occur across production IaC scripts? — Measured Smell Density (smells/KLOC) and Script Proportion across 15,232 scripts mined from 4 major open-source ecosystems.</a:t>
            </a:r>
          </a:p>
        </p:txBody>
      </p:sp>
      <p:sp>
        <p:nvSpPr>
          <p:cNvPr id="10" name="Rounded Rectangle 9"/>
          <p:cNvSpPr/>
          <p:nvPr/>
        </p:nvSpPr>
        <p:spPr>
          <a:xfrm>
            <a:off x="731520" y="3968496"/>
            <a:ext cx="10728655" cy="1078992"/>
          </a:xfrm>
          <a:prstGeom prst="roundRect">
            <a:avLst/>
          </a:prstGeom>
          <a:solidFill>
            <a:srgbClr val="1822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59935"/>
            <a:ext cx="10332720" cy="896112"/>
          </a:xfrm>
          <a:prstGeom prst="rect">
            <a:avLst/>
          </a:prstGeom>
          <a:noFill/>
        </p:spPr>
        <p:txBody>
          <a:bodyPr wrap="square">
            <a:spAutoFit/>
          </a:bodyPr>
          <a:lstStyle/>
          <a:p>
            <a:pPr>
              <a:defRPr sz="1400" b="1">
                <a:solidFill>
                  <a:srgbClr val="F59E0B"/>
                </a:solidFill>
              </a:defRPr>
            </a:pPr>
            <a:r>
              <a:t>RQ3: Persistence &amp; Longevity</a:t>
            </a:r>
          </a:p>
          <a:p>
            <a:pPr>
              <a:spcBef>
                <a:spcPts val="300"/>
              </a:spcBef>
              <a:defRPr sz="1100">
                <a:solidFill>
                  <a:srgbClr val="E2E8F0"/>
                </a:solidFill>
              </a:defRPr>
            </a:pPr>
            <a:r>
              <a:t>What is the lifetime of security smells in version-controlled repositories? — Tracked individual smell occurrences month-by-month to evaluate how long security flaws linger in master branches.</a:t>
            </a:r>
          </a:p>
        </p:txBody>
      </p:sp>
      <p:sp>
        <p:nvSpPr>
          <p:cNvPr id="12" name="Rounded Rectangle 11"/>
          <p:cNvSpPr/>
          <p:nvPr/>
        </p:nvSpPr>
        <p:spPr>
          <a:xfrm>
            <a:off x="731520" y="5175504"/>
            <a:ext cx="10728655" cy="1078992"/>
          </a:xfrm>
          <a:prstGeom prst="roundRect">
            <a:avLst/>
          </a:prstGeom>
          <a:solidFill>
            <a:srgbClr val="1822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266944"/>
            <a:ext cx="10332720" cy="896112"/>
          </a:xfrm>
          <a:prstGeom prst="rect">
            <a:avLst/>
          </a:prstGeom>
          <a:noFill/>
        </p:spPr>
        <p:txBody>
          <a:bodyPr wrap="square">
            <a:spAutoFit/>
          </a:bodyPr>
          <a:lstStyle/>
          <a:p>
            <a:pPr>
              <a:defRPr sz="1400" b="1">
                <a:solidFill>
                  <a:srgbClr val="10B981"/>
                </a:solidFill>
              </a:defRPr>
            </a:pPr>
            <a:r>
              <a:t>RQ4: Practitioner Perception</a:t>
            </a:r>
          </a:p>
          <a:p>
            <a:pPr>
              <a:spcBef>
                <a:spcPts val="300"/>
              </a:spcBef>
              <a:defRPr sz="1100">
                <a:solidFill>
                  <a:srgbClr val="E2E8F0"/>
                </a:solidFill>
              </a:defRPr>
            </a:pPr>
            <a:r>
              <a:t>Do practitioners and maintainers agree with reported security smell occurrences? — Submitted 1,000 real bug reports to active open-source project maintainers to evaluate validity, relevance, and developer awareness.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WEEK 1</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Methodology: Qualitative Derivation &amp; SLIC Tool Pipeline</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182235"/>
          </a:solidFill>
          <a:ln w="1905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4754880" cy="4389120"/>
          </a:xfrm>
          <a:prstGeom prst="rect">
            <a:avLst/>
          </a:prstGeom>
          <a:noFill/>
        </p:spPr>
        <p:txBody>
          <a:bodyPr wrap="square">
            <a:spAutoFit/>
          </a:bodyPr>
          <a:lstStyle/>
          <a:p>
            <a:pPr>
              <a:defRPr sz="1600" b="1">
                <a:solidFill>
                  <a:srgbClr val="3B82F6"/>
                </a:solidFill>
              </a:defRPr>
            </a:pPr>
            <a:r>
              <a:t>1. Qualitative Derivation &amp; Validation</a:t>
            </a:r>
          </a:p>
          <a:p>
            <a:pPr>
              <a:spcBef>
                <a:spcPts val="800"/>
              </a:spcBef>
              <a:defRPr sz="1200">
                <a:solidFill>
                  <a:srgbClr val="E2E8F0"/>
                </a:solidFill>
              </a:defRPr>
            </a:pPr>
            <a:r>
              <a:t>• Dataset: 1,726 Puppet scripts from 74 repositories across Mozilla, OpenStack, and Wikimedia.</a:t>
            </a:r>
          </a:p>
          <a:p>
            <a:pPr>
              <a:spcBef>
                <a:spcPts val="800"/>
              </a:spcBef>
              <a:defRPr sz="1200">
                <a:solidFill>
                  <a:srgbClr val="E2E8F0"/>
                </a:solidFill>
              </a:defRPr>
            </a:pPr>
            <a:r>
              <a:t>• Descriptive Coding: 565 hours of manual qualitative analysis by the primary author to extract recurring insecure coding patterns.</a:t>
            </a:r>
          </a:p>
          <a:p>
            <a:pPr>
              <a:spcBef>
                <a:spcPts val="800"/>
              </a:spcBef>
              <a:defRPr sz="1200">
                <a:solidFill>
                  <a:srgbClr val="E2E8F0"/>
                </a:solidFill>
              </a:defRPr>
            </a:pPr>
            <a:r>
              <a:t>• CWE Mapping: Mapped each smell to MITRE's Common Weakness Enumeration.</a:t>
            </a:r>
          </a:p>
          <a:p>
            <a:pPr>
              <a:spcBef>
                <a:spcPts val="800"/>
              </a:spcBef>
              <a:defRPr sz="1200">
                <a:solidFill>
                  <a:srgbClr val="E2E8F0"/>
                </a:solidFill>
              </a:defRPr>
            </a:pPr>
            <a:r>
              <a:t>• Independent Verification: 2 independent cybersecurity raters reviewed the mappings with a perfect Cohen's Kappa score of 1.0.</a:t>
            </a:r>
          </a:p>
        </p:txBody>
      </p:sp>
      <p:sp>
        <p:nvSpPr>
          <p:cNvPr id="8" name="Rounded Rectangle 7"/>
          <p:cNvSpPr/>
          <p:nvPr/>
        </p:nvSpPr>
        <p:spPr>
          <a:xfrm>
            <a:off x="6339535" y="1554480"/>
            <a:ext cx="5120640" cy="4754880"/>
          </a:xfrm>
          <a:prstGeom prst="roundRect">
            <a:avLst/>
          </a:prstGeom>
          <a:solidFill>
            <a:srgbClr val="182235"/>
          </a:solidFill>
          <a:ln w="1905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2415" y="1737360"/>
            <a:ext cx="4754880" cy="4389120"/>
          </a:xfrm>
          <a:prstGeom prst="rect">
            <a:avLst/>
          </a:prstGeom>
          <a:noFill/>
        </p:spPr>
        <p:txBody>
          <a:bodyPr wrap="square">
            <a:spAutoFit/>
          </a:bodyPr>
          <a:lstStyle/>
          <a:p>
            <a:pPr>
              <a:defRPr sz="1600" b="1">
                <a:solidFill>
                  <a:srgbClr val="06B6D4"/>
                </a:solidFill>
              </a:defRPr>
            </a:pPr>
            <a:r>
              <a:t>2. SLIC Static Analyzer Architecture</a:t>
            </a:r>
          </a:p>
          <a:p>
            <a:pPr>
              <a:spcBef>
                <a:spcPts val="800"/>
              </a:spcBef>
              <a:defRPr sz="1200">
                <a:solidFill>
                  <a:srgbClr val="E2E8F0"/>
                </a:solidFill>
              </a:defRPr>
            </a:pPr>
            <a:r>
              <a:t>• Parser Component: Tokenizes scripts into typed semantic vectors: &lt;TOKEN_TYPE, NAME, CONFIG_VALUE&gt;.</a:t>
            </a:r>
          </a:p>
          <a:p>
            <a:pPr>
              <a:spcBef>
                <a:spcPts val="800"/>
              </a:spcBef>
              <a:defRPr sz="1200">
                <a:solidFill>
                  <a:srgbClr val="E2E8F0"/>
                </a:solidFill>
              </a:defRPr>
            </a:pPr>
            <a:r>
              <a:t>• Rule Engine: Applies formal boolean predicates over extracted AST tokens and string patterns (e.g. regex for IP bindings, keys, protocols).</a:t>
            </a:r>
          </a:p>
          <a:p>
            <a:pPr>
              <a:spcBef>
                <a:spcPts val="800"/>
              </a:spcBef>
              <a:defRPr sz="1200">
                <a:solidFill>
                  <a:srgbClr val="E2E8F0"/>
                </a:solidFill>
              </a:defRPr>
            </a:pPr>
            <a:r>
              <a:t>• Oracle Dataset Validation: 140 scripts manually annotated by 28 graduate students (IRB approved).</a:t>
            </a:r>
          </a:p>
          <a:p>
            <a:pPr>
              <a:spcBef>
                <a:spcPts val="800"/>
              </a:spcBef>
              <a:defRPr sz="1200">
                <a:solidFill>
                  <a:srgbClr val="E2E8F0"/>
                </a:solidFill>
              </a:defRPr>
            </a:pPr>
            <a:r>
              <a:t>• SLIC Accuracy on Oracle: Achieved 0.99 Precision and 0.99 Recall across all smell categories.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WEEK 1</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The Seven Sins: Security Smells in Infrastructure Code</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2514600" cy="2240280"/>
          </a:xfrm>
          <a:prstGeom prst="roundRect">
            <a:avLst/>
          </a:prstGeom>
          <a:solidFill>
            <a:srgbClr val="18223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91640"/>
            <a:ext cx="2240280" cy="1965960"/>
          </a:xfrm>
          <a:prstGeom prst="rect">
            <a:avLst/>
          </a:prstGeom>
          <a:noFill/>
        </p:spPr>
        <p:txBody>
          <a:bodyPr wrap="square">
            <a:spAutoFit/>
          </a:bodyPr>
          <a:lstStyle/>
          <a:p>
            <a:pPr>
              <a:defRPr sz="1300" b="1">
                <a:solidFill>
                  <a:srgbClr val="FFFFFF"/>
                </a:solidFill>
              </a:defRPr>
            </a:pPr>
            <a:r>
              <a:t>1. Admin by Default</a:t>
            </a:r>
          </a:p>
          <a:p>
            <a:pPr>
              <a:spcBef>
                <a:spcPts val="200"/>
              </a:spcBef>
              <a:defRPr sz="1000" b="1">
                <a:solidFill>
                  <a:srgbClr val="EF4444"/>
                </a:solidFill>
              </a:defRPr>
            </a:pPr>
            <a:r>
              <a:t>CWE-250</a:t>
            </a:r>
          </a:p>
          <a:p>
            <a:pPr>
              <a:spcBef>
                <a:spcPts val="600"/>
              </a:spcBef>
              <a:defRPr sz="1000">
                <a:solidFill>
                  <a:srgbClr val="E2E8F0"/>
                </a:solidFill>
              </a:defRPr>
            </a:pPr>
            <a:r>
              <a:t>Default users provisioned with root/administrator privileges, violating Least Privilege.</a:t>
            </a:r>
          </a:p>
        </p:txBody>
      </p:sp>
      <p:sp>
        <p:nvSpPr>
          <p:cNvPr id="8" name="Rounded Rectangle 7"/>
          <p:cNvSpPr/>
          <p:nvPr/>
        </p:nvSpPr>
        <p:spPr>
          <a:xfrm>
            <a:off x="3465576" y="1554480"/>
            <a:ext cx="2514600" cy="2240280"/>
          </a:xfrm>
          <a:prstGeom prst="roundRect">
            <a:avLst/>
          </a:prstGeom>
          <a:solidFill>
            <a:srgbClr val="1822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2736" y="1691640"/>
            <a:ext cx="2240280" cy="1965960"/>
          </a:xfrm>
          <a:prstGeom prst="rect">
            <a:avLst/>
          </a:prstGeom>
          <a:noFill/>
        </p:spPr>
        <p:txBody>
          <a:bodyPr wrap="square">
            <a:spAutoFit/>
          </a:bodyPr>
          <a:lstStyle/>
          <a:p>
            <a:pPr>
              <a:defRPr sz="1300" b="1">
                <a:solidFill>
                  <a:srgbClr val="FFFFFF"/>
                </a:solidFill>
              </a:defRPr>
            </a:pPr>
            <a:r>
              <a:t>2. Empty Password</a:t>
            </a:r>
          </a:p>
          <a:p>
            <a:pPr>
              <a:spcBef>
                <a:spcPts val="200"/>
              </a:spcBef>
              <a:defRPr sz="1000" b="1">
                <a:solidFill>
                  <a:srgbClr val="F59E0B"/>
                </a:solidFill>
              </a:defRPr>
            </a:pPr>
            <a:r>
              <a:t>CWE-258</a:t>
            </a:r>
          </a:p>
          <a:p>
            <a:pPr>
              <a:spcBef>
                <a:spcPts val="600"/>
              </a:spcBef>
              <a:defRPr sz="1000">
                <a:solidFill>
                  <a:srgbClr val="E2E8F0"/>
                </a:solidFill>
              </a:defRPr>
            </a:pPr>
            <a:r>
              <a:t>Assigning empty string ('') credentials to services or database accounts.</a:t>
            </a:r>
          </a:p>
        </p:txBody>
      </p:sp>
      <p:sp>
        <p:nvSpPr>
          <p:cNvPr id="10" name="Rounded Rectangle 9"/>
          <p:cNvSpPr/>
          <p:nvPr/>
        </p:nvSpPr>
        <p:spPr>
          <a:xfrm>
            <a:off x="6199632" y="1554480"/>
            <a:ext cx="2514600" cy="2240280"/>
          </a:xfrm>
          <a:prstGeom prst="roundRect">
            <a:avLst/>
          </a:prstGeom>
          <a:solidFill>
            <a:srgbClr val="18223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1691640"/>
            <a:ext cx="2240280" cy="1965960"/>
          </a:xfrm>
          <a:prstGeom prst="rect">
            <a:avLst/>
          </a:prstGeom>
          <a:noFill/>
        </p:spPr>
        <p:txBody>
          <a:bodyPr wrap="square">
            <a:spAutoFit/>
          </a:bodyPr>
          <a:lstStyle/>
          <a:p>
            <a:pPr>
              <a:defRPr sz="1300" b="1">
                <a:solidFill>
                  <a:srgbClr val="FFFFFF"/>
                </a:solidFill>
              </a:defRPr>
            </a:pPr>
            <a:r>
              <a:t>3. Hard-coded Secret</a:t>
            </a:r>
          </a:p>
          <a:p>
            <a:pPr>
              <a:spcBef>
                <a:spcPts val="200"/>
              </a:spcBef>
              <a:defRPr sz="1000" b="1">
                <a:solidFill>
                  <a:srgbClr val="EF4444"/>
                </a:solidFill>
              </a:defRPr>
            </a:pPr>
            <a:r>
              <a:t>CWE-798 / 259</a:t>
            </a:r>
          </a:p>
          <a:p>
            <a:pPr>
              <a:spcBef>
                <a:spcPts val="600"/>
              </a:spcBef>
              <a:defRPr sz="1000">
                <a:solidFill>
                  <a:srgbClr val="E2E8F0"/>
                </a:solidFill>
              </a:defRPr>
            </a:pPr>
            <a:r>
              <a:t>Plaintext passwords, API keys, or private cryptographic keys embedded in scripts.</a:t>
            </a:r>
          </a:p>
        </p:txBody>
      </p:sp>
      <p:sp>
        <p:nvSpPr>
          <p:cNvPr id="12" name="Rounded Rectangle 11"/>
          <p:cNvSpPr/>
          <p:nvPr/>
        </p:nvSpPr>
        <p:spPr>
          <a:xfrm>
            <a:off x="8933688" y="1554480"/>
            <a:ext cx="2514600" cy="2240280"/>
          </a:xfrm>
          <a:prstGeom prst="roundRect">
            <a:avLst/>
          </a:prstGeom>
          <a:solidFill>
            <a:srgbClr val="1822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70848" y="1691640"/>
            <a:ext cx="2240280" cy="1965960"/>
          </a:xfrm>
          <a:prstGeom prst="rect">
            <a:avLst/>
          </a:prstGeom>
          <a:noFill/>
        </p:spPr>
        <p:txBody>
          <a:bodyPr wrap="square">
            <a:spAutoFit/>
          </a:bodyPr>
          <a:lstStyle/>
          <a:p>
            <a:pPr>
              <a:defRPr sz="1300" b="1">
                <a:solidFill>
                  <a:srgbClr val="FFFFFF"/>
                </a:solidFill>
              </a:defRPr>
            </a:pPr>
            <a:r>
              <a:t>4. Invalid IP Binding</a:t>
            </a:r>
          </a:p>
          <a:p>
            <a:pPr>
              <a:spcBef>
                <a:spcPts val="200"/>
              </a:spcBef>
              <a:defRPr sz="1000" b="1">
                <a:solidFill>
                  <a:srgbClr val="F59E0B"/>
                </a:solidFill>
              </a:defRPr>
            </a:pPr>
            <a:r>
              <a:t>CWE-284</a:t>
            </a:r>
          </a:p>
          <a:p>
            <a:pPr>
              <a:spcBef>
                <a:spcPts val="600"/>
              </a:spcBef>
              <a:defRPr sz="1000">
                <a:solidFill>
                  <a:srgbClr val="E2E8F0"/>
                </a:solidFill>
              </a:defRPr>
            </a:pPr>
            <a:r>
              <a:t>Binding services to 0.0.0.0, exposing sensitive databases/ports to all networks.</a:t>
            </a:r>
          </a:p>
        </p:txBody>
      </p:sp>
      <p:sp>
        <p:nvSpPr>
          <p:cNvPr id="14" name="Rounded Rectangle 13"/>
          <p:cNvSpPr/>
          <p:nvPr/>
        </p:nvSpPr>
        <p:spPr>
          <a:xfrm>
            <a:off x="731520" y="4023360"/>
            <a:ext cx="3419856" cy="2240280"/>
          </a:xfrm>
          <a:prstGeom prst="roundRect">
            <a:avLst/>
          </a:prstGeom>
          <a:solidFill>
            <a:srgbClr val="1822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160520"/>
            <a:ext cx="3145536" cy="1965960"/>
          </a:xfrm>
          <a:prstGeom prst="rect">
            <a:avLst/>
          </a:prstGeom>
          <a:noFill/>
        </p:spPr>
        <p:txBody>
          <a:bodyPr wrap="square">
            <a:spAutoFit/>
          </a:bodyPr>
          <a:lstStyle/>
          <a:p>
            <a:pPr>
              <a:defRPr sz="1300" b="1">
                <a:solidFill>
                  <a:srgbClr val="FFFFFF"/>
                </a:solidFill>
              </a:defRPr>
            </a:pPr>
            <a:r>
              <a:t>5. Suspicious Comment</a:t>
            </a:r>
          </a:p>
          <a:p>
            <a:pPr>
              <a:spcBef>
                <a:spcPts val="200"/>
              </a:spcBef>
              <a:defRPr sz="1000" b="1">
                <a:solidFill>
                  <a:srgbClr val="06B6D4"/>
                </a:solidFill>
              </a:defRPr>
            </a:pPr>
            <a:r>
              <a:t>CWE-546</a:t>
            </a:r>
          </a:p>
          <a:p>
            <a:pPr>
              <a:spcBef>
                <a:spcPts val="600"/>
              </a:spcBef>
              <a:defRPr sz="1000">
                <a:solidFill>
                  <a:srgbClr val="E2E8F0"/>
                </a:solidFill>
              </a:defRPr>
            </a:pPr>
            <a:r>
              <a:t>TODO, FIXME, or bug tracker links indicating unfinished or fragile security controls.</a:t>
            </a:r>
          </a:p>
        </p:txBody>
      </p:sp>
      <p:sp>
        <p:nvSpPr>
          <p:cNvPr id="16" name="Rounded Rectangle 15"/>
          <p:cNvSpPr/>
          <p:nvPr/>
        </p:nvSpPr>
        <p:spPr>
          <a:xfrm>
            <a:off x="4379976" y="4023360"/>
            <a:ext cx="3419856" cy="2240280"/>
          </a:xfrm>
          <a:prstGeom prst="roundRect">
            <a:avLst/>
          </a:prstGeom>
          <a:solidFill>
            <a:srgbClr val="1822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17136" y="4160520"/>
            <a:ext cx="3145536" cy="1965960"/>
          </a:xfrm>
          <a:prstGeom prst="rect">
            <a:avLst/>
          </a:prstGeom>
          <a:noFill/>
        </p:spPr>
        <p:txBody>
          <a:bodyPr wrap="square">
            <a:spAutoFit/>
          </a:bodyPr>
          <a:lstStyle/>
          <a:p>
            <a:pPr>
              <a:defRPr sz="1300" b="1">
                <a:solidFill>
                  <a:srgbClr val="FFFFFF"/>
                </a:solidFill>
              </a:defRPr>
            </a:pPr>
            <a:r>
              <a:t>6. HTTP Without TLS</a:t>
            </a:r>
          </a:p>
          <a:p>
            <a:pPr>
              <a:spcBef>
                <a:spcPts val="200"/>
              </a:spcBef>
              <a:defRPr sz="1000" b="1">
                <a:solidFill>
                  <a:srgbClr val="F59E0B"/>
                </a:solidFill>
              </a:defRPr>
            </a:pPr>
            <a:r>
              <a:t>CWE-319</a:t>
            </a:r>
          </a:p>
          <a:p>
            <a:pPr>
              <a:spcBef>
                <a:spcPts val="600"/>
              </a:spcBef>
              <a:defRPr sz="1000">
                <a:solidFill>
                  <a:srgbClr val="E2E8F0"/>
                </a:solidFill>
              </a:defRPr>
            </a:pPr>
            <a:r>
              <a:t>Unencrypted HTTP endpoints used for sensitive transmission (susceptible to MITM).</a:t>
            </a:r>
          </a:p>
        </p:txBody>
      </p:sp>
      <p:sp>
        <p:nvSpPr>
          <p:cNvPr id="18" name="Rounded Rectangle 17"/>
          <p:cNvSpPr/>
          <p:nvPr/>
        </p:nvSpPr>
        <p:spPr>
          <a:xfrm>
            <a:off x="8028432" y="4023360"/>
            <a:ext cx="3419856" cy="2240280"/>
          </a:xfrm>
          <a:prstGeom prst="roundRect">
            <a:avLst/>
          </a:prstGeom>
          <a:solidFill>
            <a:srgbClr val="18223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65592" y="4160520"/>
            <a:ext cx="3145536" cy="1965960"/>
          </a:xfrm>
          <a:prstGeom prst="rect">
            <a:avLst/>
          </a:prstGeom>
          <a:noFill/>
        </p:spPr>
        <p:txBody>
          <a:bodyPr wrap="square">
            <a:spAutoFit/>
          </a:bodyPr>
          <a:lstStyle/>
          <a:p>
            <a:pPr>
              <a:defRPr sz="1300" b="1">
                <a:solidFill>
                  <a:srgbClr val="FFFFFF"/>
                </a:solidFill>
              </a:defRPr>
            </a:pPr>
            <a:r>
              <a:t>7. Weak Crypto Algo.</a:t>
            </a:r>
          </a:p>
          <a:p>
            <a:pPr>
              <a:spcBef>
                <a:spcPts val="200"/>
              </a:spcBef>
              <a:defRPr sz="1000" b="1">
                <a:solidFill>
                  <a:srgbClr val="EF4444"/>
                </a:solidFill>
              </a:defRPr>
            </a:pPr>
            <a:r>
              <a:t>CWE-327 / 326</a:t>
            </a:r>
          </a:p>
          <a:p>
            <a:pPr>
              <a:spcBef>
                <a:spcPts val="600"/>
              </a:spcBef>
              <a:defRPr sz="1000">
                <a:solidFill>
                  <a:srgbClr val="E2E8F0"/>
                </a:solidFill>
              </a:defRPr>
            </a:pPr>
            <a:r>
              <a:t>Using broken hashing algorithms (MD5, SHA-1) for password hashing and authentication.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WEEK 1</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Empirical Findings: Prevalence &amp; Smell Density Across Datasets</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2514600" cy="1645920"/>
          </a:xfrm>
          <a:prstGeom prst="roundRect">
            <a:avLst/>
          </a:prstGeom>
          <a:solidFill>
            <a:srgbClr val="1822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45920"/>
            <a:ext cx="2331720" cy="1463040"/>
          </a:xfrm>
          <a:prstGeom prst="rect">
            <a:avLst/>
          </a:prstGeom>
          <a:noFill/>
        </p:spPr>
        <p:txBody>
          <a:bodyPr wrap="square">
            <a:spAutoFit/>
          </a:bodyPr>
          <a:lstStyle/>
          <a:p>
            <a:pPr>
              <a:defRPr sz="2200" b="1">
                <a:solidFill>
                  <a:srgbClr val="3B82F6"/>
                </a:solidFill>
              </a:defRPr>
            </a:pPr>
            <a:r>
              <a:t>15,232</a:t>
            </a:r>
          </a:p>
          <a:p>
            <a:pPr>
              <a:spcBef>
                <a:spcPts val="200"/>
              </a:spcBef>
              <a:defRPr sz="900" b="1">
                <a:solidFill>
                  <a:srgbClr val="FFFFFF"/>
                </a:solidFill>
              </a:defRPr>
            </a:pPr>
            <a:r>
              <a:t>PUPPET SCRIPTS MINED</a:t>
            </a:r>
          </a:p>
          <a:p>
            <a:pPr>
              <a:spcBef>
                <a:spcPts val="300"/>
              </a:spcBef>
              <a:defRPr sz="850">
                <a:solidFill>
                  <a:srgbClr val="94A3B8"/>
                </a:solidFill>
              </a:defRPr>
            </a:pPr>
            <a:r>
              <a:t>From 293 curated repositories across GitHub, Mozilla, OpenStack, &amp; Wikimedia</a:t>
            </a:r>
          </a:p>
        </p:txBody>
      </p:sp>
      <p:sp>
        <p:nvSpPr>
          <p:cNvPr id="8" name="Rounded Rectangle 7"/>
          <p:cNvSpPr/>
          <p:nvPr/>
        </p:nvSpPr>
        <p:spPr>
          <a:xfrm>
            <a:off x="3465576" y="1554480"/>
            <a:ext cx="2514600" cy="1645920"/>
          </a:xfrm>
          <a:prstGeom prst="roundRect">
            <a:avLst/>
          </a:prstGeom>
          <a:solidFill>
            <a:srgbClr val="1822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57016" y="1645920"/>
            <a:ext cx="2331720" cy="1463040"/>
          </a:xfrm>
          <a:prstGeom prst="rect">
            <a:avLst/>
          </a:prstGeom>
          <a:noFill/>
        </p:spPr>
        <p:txBody>
          <a:bodyPr wrap="square">
            <a:spAutoFit/>
          </a:bodyPr>
          <a:lstStyle/>
          <a:p>
            <a:pPr>
              <a:defRPr sz="2200" b="1">
                <a:solidFill>
                  <a:srgbClr val="06B6D4"/>
                </a:solidFill>
              </a:defRPr>
            </a:pPr>
            <a:r>
              <a:t>21,201</a:t>
            </a:r>
          </a:p>
          <a:p>
            <a:pPr>
              <a:spcBef>
                <a:spcPts val="200"/>
              </a:spcBef>
              <a:defRPr sz="900" b="1">
                <a:solidFill>
                  <a:srgbClr val="FFFFFF"/>
                </a:solidFill>
              </a:defRPr>
            </a:pPr>
            <a:r>
              <a:t>SECURITY SMELLS FOUND</a:t>
            </a:r>
          </a:p>
          <a:p>
            <a:pPr>
              <a:spcBef>
                <a:spcPts val="300"/>
              </a:spcBef>
              <a:defRPr sz="850">
                <a:solidFill>
                  <a:srgbClr val="94A3B8"/>
                </a:solidFill>
              </a:defRPr>
            </a:pPr>
            <a:r>
              <a:t>17.9% to 32.9% of all analyzed scripts contained at least one security smell</a:t>
            </a:r>
          </a:p>
        </p:txBody>
      </p:sp>
      <p:sp>
        <p:nvSpPr>
          <p:cNvPr id="10" name="Rounded Rectangle 9"/>
          <p:cNvSpPr/>
          <p:nvPr/>
        </p:nvSpPr>
        <p:spPr>
          <a:xfrm>
            <a:off x="6199632" y="1554480"/>
            <a:ext cx="2514600" cy="1645920"/>
          </a:xfrm>
          <a:prstGeom prst="roundRect">
            <a:avLst/>
          </a:prstGeom>
          <a:solidFill>
            <a:srgbClr val="18223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1645920"/>
            <a:ext cx="2331720" cy="1463040"/>
          </a:xfrm>
          <a:prstGeom prst="rect">
            <a:avLst/>
          </a:prstGeom>
          <a:noFill/>
        </p:spPr>
        <p:txBody>
          <a:bodyPr wrap="square">
            <a:spAutoFit/>
          </a:bodyPr>
          <a:lstStyle/>
          <a:p>
            <a:pPr>
              <a:defRPr sz="2200" b="1">
                <a:solidFill>
                  <a:srgbClr val="EF4444"/>
                </a:solidFill>
              </a:defRPr>
            </a:pPr>
            <a:r>
              <a:t>16,952</a:t>
            </a:r>
          </a:p>
          <a:p>
            <a:pPr>
              <a:spcBef>
                <a:spcPts val="200"/>
              </a:spcBef>
              <a:defRPr sz="900" b="1">
                <a:solidFill>
                  <a:srgbClr val="FFFFFF"/>
                </a:solidFill>
              </a:defRPr>
            </a:pPr>
            <a:r>
              <a:t>HARD-CODED SECRETS</a:t>
            </a:r>
          </a:p>
          <a:p>
            <a:pPr>
              <a:spcBef>
                <a:spcPts val="300"/>
              </a:spcBef>
              <a:defRPr sz="850">
                <a:solidFill>
                  <a:srgbClr val="94A3B8"/>
                </a:solidFill>
              </a:defRPr>
            </a:pPr>
            <a:r>
              <a:t>~80% of all smells: 68.3% keys, 23.9% usernames, 7.8% (1,326) plaintext passwords</a:t>
            </a:r>
          </a:p>
        </p:txBody>
      </p:sp>
      <p:sp>
        <p:nvSpPr>
          <p:cNvPr id="12" name="Rounded Rectangle 11"/>
          <p:cNvSpPr/>
          <p:nvPr/>
        </p:nvSpPr>
        <p:spPr>
          <a:xfrm>
            <a:off x="8933688" y="1554480"/>
            <a:ext cx="2514600" cy="1645920"/>
          </a:xfrm>
          <a:prstGeom prst="roundRect">
            <a:avLst/>
          </a:prstGeom>
          <a:solidFill>
            <a:srgbClr val="1822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25128" y="1645920"/>
            <a:ext cx="2331720" cy="1463040"/>
          </a:xfrm>
          <a:prstGeom prst="rect">
            <a:avLst/>
          </a:prstGeom>
          <a:noFill/>
        </p:spPr>
        <p:txBody>
          <a:bodyPr wrap="square">
            <a:spAutoFit/>
          </a:bodyPr>
          <a:lstStyle/>
          <a:p>
            <a:pPr>
              <a:defRPr sz="2200" b="1">
                <a:solidFill>
                  <a:srgbClr val="F59E0B"/>
                </a:solidFill>
              </a:defRPr>
            </a:pPr>
            <a:r>
              <a:t>31.1</a:t>
            </a:r>
          </a:p>
          <a:p>
            <a:pPr>
              <a:spcBef>
                <a:spcPts val="200"/>
              </a:spcBef>
              <a:defRPr sz="900" b="1">
                <a:solidFill>
                  <a:srgbClr val="FFFFFF"/>
                </a:solidFill>
              </a:defRPr>
            </a:pPr>
            <a:r>
              <a:t>GITHUB SMELL DENSITY</a:t>
            </a:r>
          </a:p>
          <a:p>
            <a:pPr>
              <a:spcBef>
                <a:spcPts val="300"/>
              </a:spcBef>
              <a:defRPr sz="850">
                <a:solidFill>
                  <a:srgbClr val="94A3B8"/>
                </a:solidFill>
              </a:defRPr>
            </a:pPr>
            <a:r>
              <a:t>Smells per KLOC on GitHub (1.5x - 2.1x higher than curated open-source orgs)</a:t>
            </a:r>
          </a:p>
        </p:txBody>
      </p:sp>
      <p:sp>
        <p:nvSpPr>
          <p:cNvPr id="14" name="Rounded Rectangle 13"/>
          <p:cNvSpPr/>
          <p:nvPr/>
        </p:nvSpPr>
        <p:spPr>
          <a:xfrm>
            <a:off x="731520" y="3429000"/>
            <a:ext cx="10728655" cy="2880360"/>
          </a:xfrm>
          <a:prstGeom prst="roundRect">
            <a:avLst/>
          </a:prstGeom>
          <a:solidFill>
            <a:srgbClr val="182235"/>
          </a:solidFill>
          <a:ln w="19050">
            <a:solidFill>
              <a:srgbClr val="2D3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566160"/>
            <a:ext cx="10332720" cy="2606040"/>
          </a:xfrm>
          <a:prstGeom prst="rect">
            <a:avLst/>
          </a:prstGeom>
          <a:noFill/>
        </p:spPr>
        <p:txBody>
          <a:bodyPr wrap="square">
            <a:spAutoFit/>
          </a:bodyPr>
          <a:lstStyle/>
          <a:p>
            <a:pPr>
              <a:defRPr sz="1500" b="1">
                <a:solidFill>
                  <a:srgbClr val="06B6D4"/>
                </a:solidFill>
              </a:defRPr>
            </a:pPr>
            <a:r>
              <a:t>Key Takeaways from the Empirical Analysis (RQ2)</a:t>
            </a:r>
          </a:p>
          <a:p>
            <a:pPr>
              <a:spcBef>
                <a:spcPts val="600"/>
              </a:spcBef>
              <a:defRPr sz="1100">
                <a:solidFill>
                  <a:srgbClr val="E2E8F0"/>
                </a:solidFill>
              </a:defRPr>
            </a:pPr>
            <a:r>
              <a:t>• Hard-Coded Secrets Dominate: In all four datasets, hard-coded secrets represented the overwhelming majority of detected flaws, exposing 1,326 plaintext passwords and thousands of private cryptographic keys.</a:t>
            </a:r>
          </a:p>
          <a:p>
            <a:pPr>
              <a:spcBef>
                <a:spcPts val="600"/>
              </a:spcBef>
              <a:defRPr sz="1100">
                <a:solidFill>
                  <a:srgbClr val="E2E8F0"/>
                </a:solidFill>
              </a:defRPr>
            </a:pPr>
            <a:r>
              <a:t>• GitHub vs. Curated Ecosystems: GitHub hosted scripts exhibited substantially higher smell density (31.1 per KLOC) compared to Mozilla (17.2) and Wikimedia (17.2), reflecting varying code review maturity.</a:t>
            </a:r>
          </a:p>
          <a:p>
            <a:pPr>
              <a:spcBef>
                <a:spcPts val="600"/>
              </a:spcBef>
              <a:defRPr sz="1100">
                <a:solidFill>
                  <a:srgbClr val="E2E8F0"/>
                </a:solidFill>
              </a:defRPr>
            </a:pPr>
            <a:r>
              <a:t>• Widespread Impact: Up to 1 in 3 scripts in OpenStack (32.9%) and 1 in 3.4 scripts in GitHub (29.3%) contained security anti-patterns that directly impact deployment environments.</a:t>
            </a:r>
          </a:p>
          <a:p>
            <a:pPr>
              <a:spcBef>
                <a:spcPts val="600"/>
              </a:spcBef>
              <a:defRPr sz="1100">
                <a:solidFill>
                  <a:srgbClr val="E2E8F0"/>
                </a:solidFill>
              </a:defRPr>
            </a:pPr>
            <a:r>
              <a:t>• Least Common Smell: 'Admin by default' was the least frequent smell (&lt;0.1 per KLOC), suggesting developers rarely hard-code root access explicitly compared to secret leaks.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WEEK 1</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Smell Longevity &amp; Practitioner Agreement</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4754880"/>
          </a:xfrm>
          <a:prstGeom prst="roundRect">
            <a:avLst/>
          </a:prstGeom>
          <a:solidFill>
            <a:srgbClr val="1822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4754880" cy="4389120"/>
          </a:xfrm>
          <a:prstGeom prst="rect">
            <a:avLst/>
          </a:prstGeom>
          <a:noFill/>
        </p:spPr>
        <p:txBody>
          <a:bodyPr wrap="square">
            <a:spAutoFit/>
          </a:bodyPr>
          <a:lstStyle/>
          <a:p>
            <a:pPr>
              <a:defRPr sz="1600" b="1">
                <a:solidFill>
                  <a:srgbClr val="F59E0B"/>
                </a:solidFill>
              </a:defRPr>
            </a:pPr>
            <a:r>
              <a:t>Smell Persistence: Up to 98 Months (RQ3)</a:t>
            </a:r>
          </a:p>
          <a:p>
            <a:pPr>
              <a:spcBef>
                <a:spcPts val="800"/>
              </a:spcBef>
              <a:defRPr sz="1150">
                <a:solidFill>
                  <a:srgbClr val="E2E8F0"/>
                </a:solidFill>
              </a:defRPr>
            </a:pPr>
            <a:r>
              <a:t>• Long-Lived Flaws: Security smells are not temporary artifacts; they persist across version control for months and years.</a:t>
            </a:r>
          </a:p>
          <a:p>
            <a:pPr>
              <a:spcBef>
                <a:spcPts val="800"/>
              </a:spcBef>
              <a:defRPr sz="1150">
                <a:solidFill>
                  <a:srgbClr val="E2E8F0"/>
                </a:solidFill>
              </a:defRPr>
            </a:pPr>
            <a:r>
              <a:t>• Median Lifetimes: Smells persisted for a median of 11.0 to 47.0 months across different smell categories.</a:t>
            </a:r>
          </a:p>
          <a:p>
            <a:pPr>
              <a:spcBef>
                <a:spcPts val="800"/>
              </a:spcBef>
              <a:defRPr sz="1150">
                <a:solidFill>
                  <a:srgbClr val="E2E8F0"/>
                </a:solidFill>
              </a:defRPr>
            </a:pPr>
            <a:r>
              <a:t>• Extreme Longevity: Hard-coded secrets persisted in Wikimedia for up to 98 months (~8.1 years) and GitHub for 92 months (~7.6 years).</a:t>
            </a:r>
          </a:p>
          <a:p>
            <a:pPr>
              <a:spcBef>
                <a:spcPts val="800"/>
              </a:spcBef>
              <a:defRPr sz="1150">
                <a:solidFill>
                  <a:srgbClr val="E2E8F0"/>
                </a:solidFill>
              </a:defRPr>
            </a:pPr>
            <a:r>
              <a:t>• Security Risk: Persistent credentials give adversaries an extended window of opportunity to exploit infrastructure.</a:t>
            </a:r>
          </a:p>
        </p:txBody>
      </p:sp>
      <p:sp>
        <p:nvSpPr>
          <p:cNvPr id="8" name="Rounded Rectangle 7"/>
          <p:cNvSpPr/>
          <p:nvPr/>
        </p:nvSpPr>
        <p:spPr>
          <a:xfrm>
            <a:off x="6339535" y="1554480"/>
            <a:ext cx="5120640" cy="4754880"/>
          </a:xfrm>
          <a:prstGeom prst="roundRect">
            <a:avLst/>
          </a:prstGeom>
          <a:solidFill>
            <a:srgbClr val="1822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22415" y="1737360"/>
            <a:ext cx="4754880" cy="4389120"/>
          </a:xfrm>
          <a:prstGeom prst="rect">
            <a:avLst/>
          </a:prstGeom>
          <a:noFill/>
        </p:spPr>
        <p:txBody>
          <a:bodyPr wrap="square">
            <a:spAutoFit/>
          </a:bodyPr>
          <a:lstStyle/>
          <a:p>
            <a:pPr>
              <a:defRPr sz="1600" b="1">
                <a:solidFill>
                  <a:srgbClr val="10B981"/>
                </a:solidFill>
              </a:defRPr>
            </a:pPr>
            <a:r>
              <a:t>Developer Validation: 64.4% Agreement (RQ4)</a:t>
            </a:r>
          </a:p>
          <a:p>
            <a:pPr>
              <a:spcBef>
                <a:spcPts val="800"/>
              </a:spcBef>
              <a:defRPr sz="1150">
                <a:solidFill>
                  <a:srgbClr val="E2E8F0"/>
                </a:solidFill>
              </a:defRPr>
            </a:pPr>
            <a:r>
              <a:t>• Bug Submission: 1,000 randomized bug reports submitted to open-source project maintainers.</a:t>
            </a:r>
          </a:p>
          <a:p>
            <a:pPr>
              <a:spcBef>
                <a:spcPts val="800"/>
              </a:spcBef>
              <a:defRPr sz="1150">
                <a:solidFill>
                  <a:srgbClr val="E2E8F0"/>
                </a:solidFill>
              </a:defRPr>
            </a:pPr>
            <a:r>
              <a:t>• Response Rate: Obtained 104 direct responses from 93 developers.</a:t>
            </a:r>
          </a:p>
          <a:p>
            <a:pPr>
              <a:spcBef>
                <a:spcPts val="800"/>
              </a:spcBef>
              <a:defRPr sz="1150">
                <a:solidFill>
                  <a:srgbClr val="E2E8F0"/>
                </a:solidFill>
              </a:defRPr>
            </a:pPr>
            <a:r>
              <a:t>• High Agreement: 64.4% (67 bug reports) were accepted by maintainers as legitimate security flaws to be fixed.</a:t>
            </a:r>
          </a:p>
          <a:p>
            <a:pPr>
              <a:spcBef>
                <a:spcPts val="800"/>
              </a:spcBef>
              <a:defRPr sz="1150">
                <a:solidFill>
                  <a:srgbClr val="E2E8F0"/>
                </a:solidFill>
              </a:defRPr>
            </a:pPr>
            <a:r>
              <a:t>• Top Accepted: HTTP without TLS and Weak Crypto algorithms received over 75% developer agreement.</a:t>
            </a:r>
          </a:p>
          <a:p>
            <a:pPr>
              <a:spcBef>
                <a:spcPts val="800"/>
              </a:spcBef>
              <a:defRPr sz="1150">
                <a:solidFill>
                  <a:srgbClr val="E2E8F0"/>
                </a:solidFill>
              </a:defRPr>
            </a:pPr>
            <a:r>
              <a:t>• Disagreements: Developers cited training environments or local-only scripts (e.g. 'It's localhost, what's the risk?') as reasons for keeping hard-coded values.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WEEK 1</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Critical Evaluation: Research Gaps &amp; Threats to Validity</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10728655" cy="1078992"/>
          </a:xfrm>
          <a:prstGeom prst="roundRect">
            <a:avLst/>
          </a:prstGeom>
          <a:solidFill>
            <a:srgbClr val="1822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10332720" cy="896112"/>
          </a:xfrm>
          <a:prstGeom prst="rect">
            <a:avLst/>
          </a:prstGeom>
          <a:noFill/>
        </p:spPr>
        <p:txBody>
          <a:bodyPr wrap="square">
            <a:spAutoFit/>
          </a:bodyPr>
          <a:lstStyle/>
          <a:p>
            <a:pPr>
              <a:defRPr sz="1400" b="1">
                <a:solidFill>
                  <a:srgbClr val="3B82F6"/>
                </a:solidFill>
              </a:defRPr>
            </a:pPr>
            <a:r>
              <a:t>1. Single Language Monopoly (Puppet)</a:t>
            </a:r>
          </a:p>
          <a:p>
            <a:pPr>
              <a:spcBef>
                <a:spcPts val="300"/>
              </a:spcBef>
              <a:defRPr sz="1100">
                <a:solidFill>
                  <a:srgbClr val="E2E8F0"/>
                </a:solidFill>
              </a:defRPr>
            </a:pPr>
            <a:r>
              <a:t>The study evaluates only Puppet (declarative DSL). Findings cannot be directly generalized to imperative or multi-cloud orchestration tools (Ansible YAML, Terraform HCL, Dockerfiles, CloudFormation).</a:t>
            </a:r>
          </a:p>
        </p:txBody>
      </p:sp>
      <p:sp>
        <p:nvSpPr>
          <p:cNvPr id="8" name="Rounded Rectangle 7"/>
          <p:cNvSpPr/>
          <p:nvPr/>
        </p:nvSpPr>
        <p:spPr>
          <a:xfrm>
            <a:off x="731520" y="2761488"/>
            <a:ext cx="10728655" cy="1078992"/>
          </a:xfrm>
          <a:prstGeom prst="roundRect">
            <a:avLst/>
          </a:prstGeom>
          <a:solidFill>
            <a:srgbClr val="1822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52928"/>
            <a:ext cx="10332720" cy="896112"/>
          </a:xfrm>
          <a:prstGeom prst="rect">
            <a:avLst/>
          </a:prstGeom>
          <a:noFill/>
        </p:spPr>
        <p:txBody>
          <a:bodyPr wrap="square">
            <a:spAutoFit/>
          </a:bodyPr>
          <a:lstStyle/>
          <a:p>
            <a:pPr>
              <a:defRPr sz="1400" b="1">
                <a:solidFill>
                  <a:srgbClr val="F59E0B"/>
                </a:solidFill>
              </a:defRPr>
            </a:pPr>
            <a:r>
              <a:t>2. Static Heuristic False Positives</a:t>
            </a:r>
          </a:p>
          <a:p>
            <a:pPr>
              <a:spcBef>
                <a:spcPts val="300"/>
              </a:spcBef>
              <a:defRPr sz="1100">
                <a:solidFill>
                  <a:srgbClr val="E2E8F0"/>
                </a:solidFill>
              </a:defRPr>
            </a:pPr>
            <a:r>
              <a:t>SLIC relies on regex string pattern matching. On the complete 250-script sanity check, precision dropped to 0.73-0.78 for secrets and comments due to mock variables and test harnesses.</a:t>
            </a:r>
          </a:p>
        </p:txBody>
      </p:sp>
      <p:sp>
        <p:nvSpPr>
          <p:cNvPr id="10" name="Rounded Rectangle 9"/>
          <p:cNvSpPr/>
          <p:nvPr/>
        </p:nvSpPr>
        <p:spPr>
          <a:xfrm>
            <a:off x="731520" y="3968496"/>
            <a:ext cx="10728655" cy="1078992"/>
          </a:xfrm>
          <a:prstGeom prst="roundRect">
            <a:avLst/>
          </a:prstGeom>
          <a:solidFill>
            <a:srgbClr val="182235"/>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59935"/>
            <a:ext cx="10332720" cy="896112"/>
          </a:xfrm>
          <a:prstGeom prst="rect">
            <a:avLst/>
          </a:prstGeom>
          <a:noFill/>
        </p:spPr>
        <p:txBody>
          <a:bodyPr wrap="square">
            <a:spAutoFit/>
          </a:bodyPr>
          <a:lstStyle/>
          <a:p>
            <a:pPr>
              <a:defRPr sz="1400" b="1">
                <a:solidFill>
                  <a:srgbClr val="EF4444"/>
                </a:solidFill>
              </a:defRPr>
            </a:pPr>
            <a:r>
              <a:t>3. Exploitability &amp; Reachability Blindspot</a:t>
            </a:r>
          </a:p>
          <a:p>
            <a:pPr>
              <a:spcBef>
                <a:spcPts val="300"/>
              </a:spcBef>
              <a:defRPr sz="1100">
                <a:solidFill>
                  <a:srgbClr val="E2E8F0"/>
                </a:solidFill>
              </a:defRPr>
            </a:pPr>
            <a:r>
              <a:t>The paper identifies static 'smells' but performs no dynamic taint analysis or penetration testing to confirm if an exposed credential or 0.0.0.0 binding is reachable by an external attacker at runtime.</a:t>
            </a:r>
          </a:p>
        </p:txBody>
      </p:sp>
      <p:sp>
        <p:nvSpPr>
          <p:cNvPr id="12" name="Rounded Rectangle 11"/>
          <p:cNvSpPr/>
          <p:nvPr/>
        </p:nvSpPr>
        <p:spPr>
          <a:xfrm>
            <a:off x="731520" y="5175504"/>
            <a:ext cx="10728655" cy="1078992"/>
          </a:xfrm>
          <a:prstGeom prst="roundRect">
            <a:avLst/>
          </a:prstGeom>
          <a:solidFill>
            <a:srgbClr val="1822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266944"/>
            <a:ext cx="10332720" cy="896112"/>
          </a:xfrm>
          <a:prstGeom prst="rect">
            <a:avLst/>
          </a:prstGeom>
          <a:noFill/>
        </p:spPr>
        <p:txBody>
          <a:bodyPr wrap="square">
            <a:spAutoFit/>
          </a:bodyPr>
          <a:lstStyle/>
          <a:p>
            <a:pPr>
              <a:defRPr sz="1400" b="1">
                <a:solidFill>
                  <a:srgbClr val="06B6D4"/>
                </a:solidFill>
              </a:defRPr>
            </a:pPr>
            <a:r>
              <a:t>4. Lack of Automated Remediation</a:t>
            </a:r>
          </a:p>
          <a:p>
            <a:pPr>
              <a:spcBef>
                <a:spcPts val="300"/>
              </a:spcBef>
              <a:defRPr sz="1100">
                <a:solidFill>
                  <a:srgbClr val="E2E8F0"/>
                </a:solidFill>
              </a:defRPr>
            </a:pPr>
            <a:r>
              <a:t>SLIC acts purely as a detection linter; it does not offer automated refactoring, secret redaction, or dynamic key injection into enterprise vault architectures (e.g., HashiCorp Vault).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6B6D4"/>
                </a:solidFill>
              </a:defRPr>
            </a:pPr>
            <a:r>
              <a:t>ICS 6140: COMPUTER SYSTEMS SECURITY | WEEK 1</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400" b="1">
                <a:solidFill>
                  <a:srgbClr val="FFFFFF"/>
                </a:solidFill>
              </a:defRPr>
            </a:pPr>
            <a:r>
              <a:t>Practical Implications for Secure Software Engineering</a:t>
            </a:r>
          </a:p>
        </p:txBody>
      </p:sp>
      <p:sp>
        <p:nvSpPr>
          <p:cNvPr id="5" name="Rectangle 4"/>
          <p:cNvSpPr/>
          <p:nvPr/>
        </p:nvSpPr>
        <p:spPr>
          <a:xfrm>
            <a:off x="731520" y="1371600"/>
            <a:ext cx="10728655"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54480"/>
            <a:ext cx="5120640" cy="2240280"/>
          </a:xfrm>
          <a:prstGeom prst="roundRect">
            <a:avLst/>
          </a:prstGeom>
          <a:solidFill>
            <a:srgbClr val="1822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691639"/>
            <a:ext cx="4846320" cy="1965960"/>
          </a:xfrm>
          <a:prstGeom prst="rect">
            <a:avLst/>
          </a:prstGeom>
          <a:noFill/>
        </p:spPr>
        <p:txBody>
          <a:bodyPr wrap="square">
            <a:spAutoFit/>
          </a:bodyPr>
          <a:lstStyle/>
          <a:p>
            <a:pPr>
              <a:defRPr sz="1400" b="1">
                <a:solidFill>
                  <a:srgbClr val="06B6D4"/>
                </a:solidFill>
              </a:defRPr>
            </a:pPr>
            <a:r>
              <a:t>1. Shift-Left DevSecOps Integration</a:t>
            </a:r>
          </a:p>
          <a:p>
            <a:pPr>
              <a:spcBef>
                <a:spcPts val="800"/>
              </a:spcBef>
              <a:defRPr sz="1100">
                <a:solidFill>
                  <a:srgbClr val="E2E8F0"/>
                </a:solidFill>
              </a:defRPr>
            </a:pPr>
            <a:r>
              <a:t>Integrate AST-based linters (like SLIC) directly into pre-commit hooks and CI/CD pull request gates to automatically block builds containing plaintext secrets or invalid bindings.</a:t>
            </a:r>
          </a:p>
        </p:txBody>
      </p:sp>
      <p:sp>
        <p:nvSpPr>
          <p:cNvPr id="8" name="Rounded Rectangle 7"/>
          <p:cNvSpPr/>
          <p:nvPr/>
        </p:nvSpPr>
        <p:spPr>
          <a:xfrm>
            <a:off x="6339535" y="1554480"/>
            <a:ext cx="5120640" cy="2240280"/>
          </a:xfrm>
          <a:prstGeom prst="roundRect">
            <a:avLst/>
          </a:prstGeom>
          <a:solidFill>
            <a:srgbClr val="182235"/>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6695" y="1691639"/>
            <a:ext cx="4846320" cy="1965960"/>
          </a:xfrm>
          <a:prstGeom prst="rect">
            <a:avLst/>
          </a:prstGeom>
          <a:noFill/>
        </p:spPr>
        <p:txBody>
          <a:bodyPr wrap="square">
            <a:spAutoFit/>
          </a:bodyPr>
          <a:lstStyle/>
          <a:p>
            <a:pPr>
              <a:defRPr sz="1400" b="1">
                <a:solidFill>
                  <a:srgbClr val="3B82F6"/>
                </a:solidFill>
              </a:defRPr>
            </a:pPr>
            <a:r>
              <a:t>2. Centralized Secret Vaulting</a:t>
            </a:r>
          </a:p>
          <a:p>
            <a:pPr>
              <a:spcBef>
                <a:spcPts val="800"/>
              </a:spcBef>
              <a:defRPr sz="1100">
                <a:solidFill>
                  <a:srgbClr val="E2E8F0"/>
                </a:solidFill>
              </a:defRPr>
            </a:pPr>
            <a:r>
              <a:t>Mandate dynamic secret engines (e.g., HashiCorp Vault, AWS Secrets Manager) and environment variable injection to completely decouple credentials from IaC codebases.</a:t>
            </a:r>
          </a:p>
        </p:txBody>
      </p:sp>
      <p:sp>
        <p:nvSpPr>
          <p:cNvPr id="10" name="Rounded Rectangle 9"/>
          <p:cNvSpPr/>
          <p:nvPr/>
        </p:nvSpPr>
        <p:spPr>
          <a:xfrm>
            <a:off x="731520" y="4023360"/>
            <a:ext cx="5120640" cy="2240280"/>
          </a:xfrm>
          <a:prstGeom prst="roundRect">
            <a:avLst/>
          </a:prstGeom>
          <a:solidFill>
            <a:srgbClr val="182235"/>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60520"/>
            <a:ext cx="4846320" cy="1965960"/>
          </a:xfrm>
          <a:prstGeom prst="rect">
            <a:avLst/>
          </a:prstGeom>
          <a:noFill/>
        </p:spPr>
        <p:txBody>
          <a:bodyPr wrap="square">
            <a:spAutoFit/>
          </a:bodyPr>
          <a:lstStyle/>
          <a:p>
            <a:pPr>
              <a:defRPr sz="1400" b="1">
                <a:solidFill>
                  <a:srgbClr val="10B981"/>
                </a:solidFill>
              </a:defRPr>
            </a:pPr>
            <a:r>
              <a:t>3. Secure Architectural Defaults</a:t>
            </a:r>
          </a:p>
          <a:p>
            <a:pPr>
              <a:spcBef>
                <a:spcPts val="800"/>
              </a:spcBef>
              <a:defRPr sz="1100">
                <a:solidFill>
                  <a:srgbClr val="E2E8F0"/>
                </a:solidFill>
              </a:defRPr>
            </a:pPr>
            <a:r>
              <a:t>Adopt secure-by-default configurations: enforce localhost (127.0.0.1) bindings, mandatory TLS 1.3 endpoints, and NIST-approved cryptographic hashing functions.</a:t>
            </a:r>
          </a:p>
        </p:txBody>
      </p:sp>
      <p:sp>
        <p:nvSpPr>
          <p:cNvPr id="12" name="Rounded Rectangle 11"/>
          <p:cNvSpPr/>
          <p:nvPr/>
        </p:nvSpPr>
        <p:spPr>
          <a:xfrm>
            <a:off x="6339535" y="4023360"/>
            <a:ext cx="5120640" cy="2240280"/>
          </a:xfrm>
          <a:prstGeom prst="roundRect">
            <a:avLst/>
          </a:prstGeom>
          <a:solidFill>
            <a:srgbClr val="182235"/>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6695" y="4160520"/>
            <a:ext cx="4846320" cy="1965960"/>
          </a:xfrm>
          <a:prstGeom prst="rect">
            <a:avLst/>
          </a:prstGeom>
          <a:noFill/>
        </p:spPr>
        <p:txBody>
          <a:bodyPr wrap="square">
            <a:spAutoFit/>
          </a:bodyPr>
          <a:lstStyle/>
          <a:p>
            <a:pPr>
              <a:defRPr sz="1400" b="1">
                <a:solidFill>
                  <a:srgbClr val="F59E0B"/>
                </a:solidFill>
              </a:defRPr>
            </a:pPr>
            <a:r>
              <a:t>4. DevOps Security Awareness</a:t>
            </a:r>
          </a:p>
          <a:p>
            <a:pPr>
              <a:spcBef>
                <a:spcPts val="800"/>
              </a:spcBef>
              <a:defRPr sz="1100">
                <a:solidFill>
                  <a:srgbClr val="E2E8F0"/>
                </a:solidFill>
              </a:defRPr>
            </a:pPr>
            <a:r>
              <a:t>Train engineering teams that 'test', 'demo', and 'localhost' modules are frequent entry points for attacker lateral movement and must adhere to production security standards.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182235"/>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05840"/>
            <a:ext cx="9966960" cy="4846320"/>
          </a:xfrm>
          <a:prstGeom prst="rect">
            <a:avLst/>
          </a:prstGeom>
          <a:noFill/>
        </p:spPr>
        <p:txBody>
          <a:bodyPr wrap="square">
            <a:spAutoFit/>
          </a:bodyPr>
          <a:lstStyle/>
          <a:p>
            <a:pPr>
              <a:defRPr sz="2400" b="1">
                <a:solidFill>
                  <a:srgbClr val="FFFFFF"/>
                </a:solidFill>
              </a:defRPr>
            </a:pPr>
            <a:r>
              <a:t>Conclusion &amp; Summary Takeaways</a:t>
            </a:r>
          </a:p>
          <a:p>
            <a:pPr>
              <a:spcBef>
                <a:spcPts val="800"/>
              </a:spcBef>
              <a:defRPr sz="1200">
                <a:solidFill>
                  <a:srgbClr val="E2E8F0"/>
                </a:solidFill>
              </a:defRPr>
            </a:pPr>
            <a:r>
              <a:t>✓  Infrastructure as Code is foundational to cloud engineering, but configuration flaws directly translate into severe production vulnerabilities.</a:t>
            </a:r>
          </a:p>
          <a:p>
            <a:pPr>
              <a:spcBef>
                <a:spcPts val="800"/>
              </a:spcBef>
              <a:defRPr sz="1200">
                <a:solidFill>
                  <a:srgbClr val="E2E8F0"/>
                </a:solidFill>
              </a:defRPr>
            </a:pPr>
            <a:r>
              <a:t>✓  The Seven Sins provide the first formal, empirically-validated taxonomy connecting IaC anti-patterns to Common Weakness Enumerations (CWEs).</a:t>
            </a:r>
          </a:p>
          <a:p>
            <a:pPr>
              <a:spcBef>
                <a:spcPts val="800"/>
              </a:spcBef>
              <a:defRPr sz="1200">
                <a:solidFill>
                  <a:srgbClr val="E2E8F0"/>
                </a:solidFill>
              </a:defRPr>
            </a:pPr>
            <a:r>
              <a:t>✓  Over 21,000 security smells were uncovered across 15,232 scripts, with secrets persisting undetected for up to 8.1 years in version control.</a:t>
            </a:r>
          </a:p>
          <a:p>
            <a:pPr>
              <a:spcBef>
                <a:spcPts val="800"/>
              </a:spcBef>
              <a:defRPr sz="1200">
                <a:solidFill>
                  <a:srgbClr val="E2E8F0"/>
                </a:solidFill>
              </a:defRPr>
            </a:pPr>
            <a:r>
              <a:t>✓  64.4% developer acceptance demonstrates that software practitioners acknowledge IaC security smells as actionable, high-priority issues.</a:t>
            </a:r>
          </a:p>
          <a:p>
            <a:pPr>
              <a:spcBef>
                <a:spcPts val="800"/>
              </a:spcBef>
              <a:defRPr sz="1200">
                <a:solidFill>
                  <a:srgbClr val="E2E8F0"/>
                </a:solidFill>
              </a:defRPr>
            </a:pPr>
            <a:r>
              <a:t>✓  Securing modern software systems requires applying the same rigorous linting, code review, and secret isolation to infrastructure code as core application logic.</a:t>
            </a:r>
          </a:p>
          <a:p>
            <a:pPr>
              <a:spcBef>
                <a:spcPts val="1600"/>
              </a:spcBef>
              <a:defRPr sz="1200" b="1">
                <a:solidFill>
                  <a:srgbClr val="06B6D4"/>
                </a:solidFill>
              </a:defRPr>
            </a:pPr>
            <a:r>
              <a:t>Tarimo Jeff  |  ICS 6140 Computer Systems Security  |  Thank You! Questions &amp; Discussion</a:t>
            </a:r>
          </a:p>
        </p:txBody>
      </p:sp>
      <p:sp>
        <p:nvSpPr>
          <p:cNvPr id="5" name="Rectangle 4"/>
          <p:cNvSpPr/>
          <p:nvPr/>
        </p:nvSpPr>
        <p:spPr>
          <a:xfrm>
            <a:off x="1097280" y="4937760"/>
            <a:ext cx="9966960" cy="18288"/>
          </a:xfrm>
          <a:prstGeom prst="rect">
            <a:avLst/>
          </a:prstGeom>
          <a:solidFill>
            <a:srgbClr val="2D3C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