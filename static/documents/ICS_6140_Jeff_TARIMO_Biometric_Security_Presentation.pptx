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I am Jeff TARIMO (Registration MSC-03-0008/2026), presenting for ICS 6140 Computer Systems Security. Today's presentation focuses on Biometric Security Systems based on the comprehensive research survey conducted under Prof. Raj Jain at Washington University in St. Louis. We will explore how biometric authentication transforms cyber and physical security, examine the seven biometric evaluation criteria, analyze major physiological modalities, and discuss critical security, privacy, and architectural trade-offs.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access control relies on what you know (passwords) or what you have (smart cards), both of which are easily compromised, stolen, or shared. Biometrics shifts authentication to 'who you are'—using immutable human biological markers. According to foundational criteria by Schuckers and Jain, any practical biometric security system must satisfy seven core pillars: uniqueness, universality, permanence, collectability, performance, acceptability, and circumvention resistance.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survey structures its analysis into four key dimensions: categorizing biometric modalities and their algorithmic extraction methods, differentiating physical from logical access control domains, investigating the software middleware connecting devices to databases, and evaluating crucial sociotechnical and privacy concerns such as function creep and template tracking.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Biometric security operates across two primary domains. Physical Access Control protects physical premises like server rooms and airport borders from unauthorized entry. Logical Access Control secures digital environments, providing user authentication for workstations, networks, and confidential databases. The middleware layer acts as the software glue that allows diverse sensors to securely communicate with centralized verification databases across enterprise networks.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taxonomy of the primary biometric modalities explored in the survey. Fingerprint analysis relies on minutiae ridge endings and bifurcations. Facial recognition maps geometric nodal distances. Iris scanning evaluates over 200 textural points and is virtually immune to physical changes. Palm vein recognition uses near-infrared light to map internal vascular blood vessels, offering near-zero spoofability and rapid 0.5-second verification. DNA profiling provides absolute uniqueness but remains constrained by sample preparation time and high equipment costs.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biometric system must balance False Acceptance Rates (FAR) against False Rejection Rates (FRR). While iris scanning and DNA offer unmatched precision, vascular vein recognition provides an exceptional real-world sweet spot: sub-second verification, high accuracy, and strong resistance to spoofing because veins are hidden subcutaneously beneath the skin.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Biometric adoption faces severe non-technical and security hurdles. The most pressing risk is 'function creep'—where databases collected for one purpose are repurposed for mass surveillance. More fundamentally, biometrics suffer from the irrevocability dilemma: you cannot reset your fingerprint or iris if a central database is breached. Additionally, temporary illnesses, physical injuries, hygiene concerns, and cultural objections create significant real-world friction.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an academic and security critique perspective, this survey has four notable gaps: First, it does not anticipate AI-driven deepfakes and advanced presentation attacks; Second, it overlooks cancelable biometrics and cryptographic template protection; Third, it misses multi-modal fusion systems; And fourth, it lacks discussion of legal frameworks like GDPR and BIPA that regulate biometric handling today.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build robust, enterprise-grade biometric security systems, cybersecurity engineers should adopt four defense-in-depth principles: Fusing multiple biometric modalities to eliminate single points of failure, embedding active hardware liveness detection, utilizing cancelable cryptographic template transformations, and anchoring biometrics within multi-factor Zero Trust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biometric security systems fundamentally elevate access control by linking authentication directly to human biology. However, engineering a secure biometric system requires addressing serious privacy risks and employing multi-modal liveness defenses. Thank you for your attention. I now welcome questions and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822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097280"/>
            <a:ext cx="9784080" cy="365760"/>
          </a:xfrm>
          <a:prstGeom prst="rect">
            <a:avLst/>
          </a:prstGeom>
          <a:noFill/>
        </p:spPr>
        <p:txBody>
          <a:bodyPr wrap="none">
            <a:spAutoFit/>
          </a:bodyPr>
          <a:lstStyle/>
          <a:p>
            <a:pPr>
              <a:defRPr sz="1200" b="1">
                <a:solidFill>
                  <a:srgbClr val="06B6D4"/>
                </a:solidFill>
              </a:defRPr>
            </a:pPr>
            <a:r>
              <a:t>ICS 6140: COMPUTER SYSTEMS SECURITY  |  WEEK 2 PRESENTATION</a:t>
            </a:r>
          </a:p>
        </p:txBody>
      </p:sp>
      <p:sp>
        <p:nvSpPr>
          <p:cNvPr id="5" name="TextBox 4"/>
          <p:cNvSpPr txBox="1"/>
          <p:nvPr/>
        </p:nvSpPr>
        <p:spPr>
          <a:xfrm>
            <a:off x="1188720" y="1463040"/>
            <a:ext cx="9784080" cy="1645920"/>
          </a:xfrm>
          <a:prstGeom prst="rect">
            <a:avLst/>
          </a:prstGeom>
          <a:noFill/>
        </p:spPr>
        <p:txBody>
          <a:bodyPr wrap="square">
            <a:spAutoFit/>
          </a:bodyPr>
          <a:lstStyle/>
          <a:p>
            <a:pPr>
              <a:defRPr sz="3000" b="1">
                <a:solidFill>
                  <a:srgbClr val="FFFFFF"/>
                </a:solidFill>
              </a:defRPr>
            </a:pPr>
            <a:r>
              <a:t>A Survey of Biometrics Security Systems:</a:t>
            </a:r>
            <a:br/>
            <a:r>
              <a:t>Technologies, Architectures, and Challenges</a:t>
            </a:r>
          </a:p>
        </p:txBody>
      </p:sp>
      <p:sp>
        <p:nvSpPr>
          <p:cNvPr id="6" name="Rectangle 5"/>
          <p:cNvSpPr/>
          <p:nvPr/>
        </p:nvSpPr>
        <p:spPr>
          <a:xfrm>
            <a:off x="1188720" y="3291840"/>
            <a:ext cx="9784080"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566160"/>
            <a:ext cx="5486400" cy="2103120"/>
          </a:xfrm>
          <a:prstGeom prst="rect">
            <a:avLst/>
          </a:prstGeom>
          <a:noFill/>
        </p:spPr>
        <p:txBody>
          <a:bodyPr wrap="square">
            <a:spAutoFit/>
          </a:bodyPr>
          <a:lstStyle/>
          <a:p>
            <a:pPr>
              <a:defRPr sz="1400" b="1">
                <a:solidFill>
                  <a:srgbClr val="3B82F6"/>
                </a:solidFill>
              </a:defRPr>
            </a:pPr>
            <a:r>
              <a:t>Presentation Topic: Biometric Security Systems</a:t>
            </a:r>
          </a:p>
          <a:p>
            <a:pPr>
              <a:spcBef>
                <a:spcPts val="800"/>
              </a:spcBef>
              <a:defRPr sz="1200">
                <a:solidFill>
                  <a:srgbClr val="E2E8F0"/>
                </a:solidFill>
              </a:defRPr>
            </a:pPr>
            <a:r>
              <a:t>Author: Chien Le (Under the guidance of Prof. Raj Jain)</a:t>
            </a:r>
            <a:br/>
            <a:r>
              <a:t>Washington University in St. Louis</a:t>
            </a:r>
          </a:p>
          <a:p>
            <a:pPr>
              <a:spcBef>
                <a:spcPts val="600"/>
              </a:spcBef>
              <a:defRPr sz="1050" i="1">
                <a:solidFill>
                  <a:srgbClr val="94A3B8"/>
                </a:solidFill>
              </a:defRPr>
            </a:pPr>
            <a:r>
              <a:t>Paper Reference: https://classes.engineering.wustl.edu/~jain/cse571-11/ftp/biomet/</a:t>
            </a:r>
          </a:p>
        </p:txBody>
      </p:sp>
      <p:sp>
        <p:nvSpPr>
          <p:cNvPr id="8" name="Rounded Rectangle 7"/>
          <p:cNvSpPr/>
          <p:nvPr/>
        </p:nvSpPr>
        <p:spPr>
          <a:xfrm>
            <a:off x="7132320" y="3566160"/>
            <a:ext cx="3840480" cy="201168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3703320"/>
            <a:ext cx="3291840" cy="1737360"/>
          </a:xfrm>
          <a:prstGeom prst="rect">
            <a:avLst/>
          </a:prstGeom>
          <a:noFill/>
        </p:spPr>
        <p:txBody>
          <a:bodyPr wrap="square">
            <a:spAutoFit/>
          </a:bodyPr>
          <a:lstStyle/>
          <a:p>
            <a:pPr>
              <a:defRPr sz="1000" b="1">
                <a:solidFill>
                  <a:srgbClr val="06B6D4"/>
                </a:solidFill>
              </a:defRPr>
            </a:pPr>
            <a:r>
              <a:t>PRESENTER</a:t>
            </a:r>
          </a:p>
          <a:p>
            <a:pPr>
              <a:spcBef>
                <a:spcPts val="300"/>
              </a:spcBef>
              <a:defRPr sz="2000" b="1">
                <a:solidFill>
                  <a:srgbClr val="FFFFFF"/>
                </a:solidFill>
              </a:defRPr>
            </a:pPr>
            <a:r>
              <a:t>Jeff TARIMO</a:t>
            </a:r>
          </a:p>
          <a:p>
            <a:pPr>
              <a:spcBef>
                <a:spcPts val="400"/>
              </a:spcBef>
              <a:defRPr sz="1050">
                <a:solidFill>
                  <a:srgbClr val="94A3B8"/>
                </a:solidFill>
              </a:defRPr>
            </a:pPr>
            <a:r>
              <a:t>MSc. Computer Systems Security</a:t>
            </a:r>
            <a:br/>
            <a:r>
              <a:t>Reg: MSC-03-0008/2026</a:t>
            </a:r>
            <a:br/>
            <a:r>
              <a:t>Topic: Biometric Security Systems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6B6D4"/>
                </a:solidFill>
              </a:defRPr>
            </a:pPr>
            <a:r>
              <a:t>ICS 6140: COMPUTER SYSTEMS SECURITY | BIOMETRIC SECURITY SYSTEMS</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Background: The Evolution &amp; Fundamentals of Biometric Security</a:t>
            </a:r>
          </a:p>
        </p:txBody>
      </p:sp>
      <p:sp>
        <p:nvSpPr>
          <p:cNvPr id="5" name="Rectangle 4"/>
          <p:cNvSpPr/>
          <p:nvPr/>
        </p:nvSpPr>
        <p:spPr>
          <a:xfrm>
            <a:off x="731520" y="137160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3328416" cy="4754880"/>
          </a:xfrm>
          <a:prstGeom prst="roundRect">
            <a:avLst/>
          </a:prstGeom>
          <a:solidFill>
            <a:srgbClr val="182235"/>
          </a:solidFill>
          <a:ln w="1905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2962656" cy="4389120"/>
          </a:xfrm>
          <a:prstGeom prst="rect">
            <a:avLst/>
          </a:prstGeom>
          <a:noFill/>
        </p:spPr>
        <p:txBody>
          <a:bodyPr wrap="square">
            <a:spAutoFit/>
          </a:bodyPr>
          <a:lstStyle/>
          <a:p>
            <a:pPr>
              <a:defRPr sz="1600" b="1">
                <a:solidFill>
                  <a:srgbClr val="EF4444"/>
                </a:solidFill>
              </a:defRPr>
            </a:pPr>
            <a:r>
              <a:t>1. Legacy Security Failures</a:t>
            </a:r>
          </a:p>
          <a:p>
            <a:pPr>
              <a:spcBef>
                <a:spcPts val="800"/>
              </a:spcBef>
              <a:defRPr sz="1150">
                <a:solidFill>
                  <a:srgbClr val="E2E8F0"/>
                </a:solidFill>
              </a:defRPr>
            </a:pPr>
            <a:r>
              <a:t>• Knowledge-based tokens (passwords, PINs) suffer from reuse, brute-force guessing, credential stuffing, and phishing.</a:t>
            </a:r>
          </a:p>
          <a:p>
            <a:pPr>
              <a:spcBef>
                <a:spcPts val="800"/>
              </a:spcBef>
              <a:defRPr sz="1150">
                <a:solidFill>
                  <a:srgbClr val="E2E8F0"/>
                </a:solidFill>
              </a:defRPr>
            </a:pPr>
            <a:r>
              <a:t>• Possession-based tokens (smart cards, RFID badges) can be cloned, stolen, or shared (buddy-punching).</a:t>
            </a:r>
          </a:p>
          <a:p>
            <a:pPr>
              <a:spcBef>
                <a:spcPts val="800"/>
              </a:spcBef>
              <a:defRPr sz="1150">
                <a:solidFill>
                  <a:srgbClr val="E2E8F0"/>
                </a:solidFill>
              </a:defRPr>
            </a:pPr>
            <a:r>
              <a:t>• Administrative overhead: massive financial costs associated with password resets and token replacements.</a:t>
            </a:r>
          </a:p>
        </p:txBody>
      </p:sp>
      <p:sp>
        <p:nvSpPr>
          <p:cNvPr id="8" name="Rounded Rectangle 7"/>
          <p:cNvSpPr/>
          <p:nvPr/>
        </p:nvSpPr>
        <p:spPr>
          <a:xfrm>
            <a:off x="4425696" y="1554480"/>
            <a:ext cx="3328416" cy="4754880"/>
          </a:xfrm>
          <a:prstGeom prst="roundRect">
            <a:avLst/>
          </a:prstGeom>
          <a:solidFill>
            <a:srgbClr val="182235"/>
          </a:solidFill>
          <a:ln w="1905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737360"/>
            <a:ext cx="2962656" cy="4389120"/>
          </a:xfrm>
          <a:prstGeom prst="rect">
            <a:avLst/>
          </a:prstGeom>
          <a:noFill/>
        </p:spPr>
        <p:txBody>
          <a:bodyPr wrap="square">
            <a:spAutoFit/>
          </a:bodyPr>
          <a:lstStyle/>
          <a:p>
            <a:pPr>
              <a:defRPr sz="1600" b="1">
                <a:solidFill>
                  <a:srgbClr val="06B6D4"/>
                </a:solidFill>
              </a:defRPr>
            </a:pPr>
            <a:r>
              <a:t>2. The Lock &amp; Key Paradigm</a:t>
            </a:r>
          </a:p>
          <a:p>
            <a:pPr>
              <a:spcBef>
                <a:spcPts val="800"/>
              </a:spcBef>
              <a:defRPr sz="1150">
                <a:solidFill>
                  <a:srgbClr val="E2E8F0"/>
                </a:solidFill>
              </a:defRPr>
            </a:pPr>
            <a:r>
              <a:t>• Biometrics represents automated recognition based on unique physiological and behavioral characteristics (Jain et al.).</a:t>
            </a:r>
          </a:p>
          <a:p>
            <a:pPr>
              <a:spcBef>
                <a:spcPts val="800"/>
              </a:spcBef>
              <a:defRPr sz="1150">
                <a:solidFill>
                  <a:srgbClr val="E2E8F0"/>
                </a:solidFill>
              </a:defRPr>
            </a:pPr>
            <a:r>
              <a:t>• Lock &amp; Key Metaphor: The biometric capture and verification system acts as the 'lock', while the user's biological trait is the 'key'.</a:t>
            </a:r>
          </a:p>
          <a:p>
            <a:pPr>
              <a:spcBef>
                <a:spcPts val="800"/>
              </a:spcBef>
              <a:defRPr sz="1150">
                <a:solidFill>
                  <a:srgbClr val="E2E8F0"/>
                </a:solidFill>
              </a:defRPr>
            </a:pPr>
            <a:r>
              <a:t>• Inseparability: Biological traits cannot be lost, forgotten, or easily transferred between individuals.</a:t>
            </a:r>
          </a:p>
        </p:txBody>
      </p:sp>
      <p:sp>
        <p:nvSpPr>
          <p:cNvPr id="10" name="Rounded Rectangle 9"/>
          <p:cNvSpPr/>
          <p:nvPr/>
        </p:nvSpPr>
        <p:spPr>
          <a:xfrm>
            <a:off x="8119872" y="1554480"/>
            <a:ext cx="3328416" cy="4754880"/>
          </a:xfrm>
          <a:prstGeom prst="roundRect">
            <a:avLst/>
          </a:prstGeom>
          <a:solidFill>
            <a:srgbClr val="182235"/>
          </a:solidFill>
          <a:ln w="1905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737360"/>
            <a:ext cx="2962656" cy="4389120"/>
          </a:xfrm>
          <a:prstGeom prst="rect">
            <a:avLst/>
          </a:prstGeom>
          <a:noFill/>
        </p:spPr>
        <p:txBody>
          <a:bodyPr wrap="square">
            <a:spAutoFit/>
          </a:bodyPr>
          <a:lstStyle/>
          <a:p>
            <a:pPr>
              <a:defRPr sz="1600" b="1">
                <a:solidFill>
                  <a:srgbClr val="F59E0B"/>
                </a:solidFill>
              </a:defRPr>
            </a:pPr>
            <a:r>
              <a:t>3. Seven Evaluation Criteria</a:t>
            </a:r>
          </a:p>
          <a:p>
            <a:pPr>
              <a:spcBef>
                <a:spcPts val="400"/>
              </a:spcBef>
              <a:defRPr sz="1100">
                <a:solidFill>
                  <a:srgbClr val="E2E8F0"/>
                </a:solidFill>
              </a:defRPr>
            </a:pPr>
            <a:r>
              <a:t>• Uniqueness: Distinctiveness among human populations.</a:t>
            </a:r>
          </a:p>
          <a:p>
            <a:pPr>
              <a:spcBef>
                <a:spcPts val="400"/>
              </a:spcBef>
              <a:defRPr sz="1100">
                <a:solidFill>
                  <a:srgbClr val="E2E8F0"/>
                </a:solidFill>
              </a:defRPr>
            </a:pPr>
            <a:r>
              <a:t>• Universality: Trait possessed by every individual.</a:t>
            </a:r>
          </a:p>
          <a:p>
            <a:pPr>
              <a:spcBef>
                <a:spcPts val="400"/>
              </a:spcBef>
              <a:defRPr sz="1100">
                <a:solidFill>
                  <a:srgbClr val="E2E8F0"/>
                </a:solidFill>
              </a:defRPr>
            </a:pPr>
            <a:r>
              <a:t>• Permanence: Invariant over aging and time.</a:t>
            </a:r>
          </a:p>
          <a:p>
            <a:pPr>
              <a:spcBef>
                <a:spcPts val="400"/>
              </a:spcBef>
              <a:defRPr sz="1100">
                <a:solidFill>
                  <a:srgbClr val="E2E8F0"/>
                </a:solidFill>
              </a:defRPr>
            </a:pPr>
            <a:r>
              <a:t>• Collectability: Ease of sensor acquisition.</a:t>
            </a:r>
          </a:p>
          <a:p>
            <a:pPr>
              <a:spcBef>
                <a:spcPts val="400"/>
              </a:spcBef>
              <a:defRPr sz="1100">
                <a:solidFill>
                  <a:srgbClr val="E2E8F0"/>
                </a:solidFill>
              </a:defRPr>
            </a:pPr>
            <a:r>
              <a:t>• Performance: High accuracy (low FAR/FRR) &amp; speed.</a:t>
            </a:r>
          </a:p>
          <a:p>
            <a:pPr>
              <a:spcBef>
                <a:spcPts val="400"/>
              </a:spcBef>
              <a:defRPr sz="1100">
                <a:solidFill>
                  <a:srgbClr val="E2E8F0"/>
                </a:solidFill>
              </a:defRPr>
            </a:pPr>
            <a:r>
              <a:t>• Acceptability: Public willingness to undergo scanning.</a:t>
            </a:r>
          </a:p>
          <a:p>
            <a:pPr>
              <a:spcBef>
                <a:spcPts val="400"/>
              </a:spcBef>
              <a:defRPr sz="1100">
                <a:solidFill>
                  <a:srgbClr val="E2E8F0"/>
                </a:solidFill>
              </a:defRPr>
            </a:pPr>
            <a:r>
              <a:t>• Circumvention: Resistance to fraudulent spoofing.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6B6D4"/>
                </a:solidFill>
              </a:defRPr>
            </a:pPr>
            <a:r>
              <a:t>ICS 6140: COMPUTER SYSTEMS SECURITY | BIOMETRIC SECURITY SYSTEMS</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Survey Scope: Taxonomy, Architectures &amp; Investigation Goals</a:t>
            </a:r>
          </a:p>
        </p:txBody>
      </p:sp>
      <p:sp>
        <p:nvSpPr>
          <p:cNvPr id="5" name="Rectangle 4"/>
          <p:cNvSpPr/>
          <p:nvPr/>
        </p:nvSpPr>
        <p:spPr>
          <a:xfrm>
            <a:off x="731520" y="137160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10728655" cy="1078992"/>
          </a:xfrm>
          <a:prstGeom prst="roundRect">
            <a:avLst/>
          </a:prstGeom>
          <a:solidFill>
            <a:srgbClr val="1822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10332720" cy="896112"/>
          </a:xfrm>
          <a:prstGeom prst="rect">
            <a:avLst/>
          </a:prstGeom>
          <a:noFill/>
        </p:spPr>
        <p:txBody>
          <a:bodyPr wrap="square">
            <a:spAutoFit/>
          </a:bodyPr>
          <a:lstStyle/>
          <a:p>
            <a:pPr>
              <a:defRPr sz="1400" b="1">
                <a:solidFill>
                  <a:srgbClr val="3B82F6"/>
                </a:solidFill>
              </a:defRPr>
            </a:pPr>
            <a:r>
              <a:t>1. Modality Taxonomy &amp; Feature Extraction</a:t>
            </a:r>
          </a:p>
          <a:p>
            <a:pPr>
              <a:spcBef>
                <a:spcPts val="300"/>
              </a:spcBef>
              <a:defRPr sz="1100">
                <a:solidFill>
                  <a:srgbClr val="E2E8F0"/>
                </a:solidFill>
              </a:defRPr>
            </a:pPr>
            <a:r>
              <a:t>Comprehensive categorization of physiological (fingerprint, face, iris, vein, DNA) and behavioral traits, detailing extraction algorithms (minutiae vs. pattern matching, VNTR loci).</a:t>
            </a:r>
          </a:p>
        </p:txBody>
      </p:sp>
      <p:sp>
        <p:nvSpPr>
          <p:cNvPr id="8" name="Rounded Rectangle 7"/>
          <p:cNvSpPr/>
          <p:nvPr/>
        </p:nvSpPr>
        <p:spPr>
          <a:xfrm>
            <a:off x="731520" y="2761488"/>
            <a:ext cx="10728655" cy="1078992"/>
          </a:xfrm>
          <a:prstGeom prst="roundRect">
            <a:avLst/>
          </a:prstGeom>
          <a:solidFill>
            <a:srgbClr val="1822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52928"/>
            <a:ext cx="10332720" cy="896112"/>
          </a:xfrm>
          <a:prstGeom prst="rect">
            <a:avLst/>
          </a:prstGeom>
          <a:noFill/>
        </p:spPr>
        <p:txBody>
          <a:bodyPr wrap="square">
            <a:spAutoFit/>
          </a:bodyPr>
          <a:lstStyle/>
          <a:p>
            <a:pPr>
              <a:defRPr sz="1400" b="1">
                <a:solidFill>
                  <a:srgbClr val="06B6D4"/>
                </a:solidFill>
              </a:defRPr>
            </a:pPr>
            <a:r>
              <a:t>2. Access Control Dual Domains</a:t>
            </a:r>
          </a:p>
          <a:p>
            <a:pPr>
              <a:spcBef>
                <a:spcPts val="300"/>
              </a:spcBef>
              <a:defRPr sz="1100">
                <a:solidFill>
                  <a:srgbClr val="E2E8F0"/>
                </a:solidFill>
              </a:defRPr>
            </a:pPr>
            <a:r>
              <a:t>Analysis of Physical Access Control (facility entry, perimeter, border management) versus Logical Access Control (workstation logon, network access, encrypted data access).</a:t>
            </a:r>
          </a:p>
        </p:txBody>
      </p:sp>
      <p:sp>
        <p:nvSpPr>
          <p:cNvPr id="10" name="Rounded Rectangle 9"/>
          <p:cNvSpPr/>
          <p:nvPr/>
        </p:nvSpPr>
        <p:spPr>
          <a:xfrm>
            <a:off x="731520" y="3968496"/>
            <a:ext cx="10728655" cy="1078992"/>
          </a:xfrm>
          <a:prstGeom prst="roundRect">
            <a:avLst/>
          </a:prstGeom>
          <a:solidFill>
            <a:srgbClr val="1822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59935"/>
            <a:ext cx="10332720" cy="896112"/>
          </a:xfrm>
          <a:prstGeom prst="rect">
            <a:avLst/>
          </a:prstGeom>
          <a:noFill/>
        </p:spPr>
        <p:txBody>
          <a:bodyPr wrap="square">
            <a:spAutoFit/>
          </a:bodyPr>
          <a:lstStyle/>
          <a:p>
            <a:pPr>
              <a:defRPr sz="1400" b="1">
                <a:solidFill>
                  <a:srgbClr val="10B981"/>
                </a:solidFill>
              </a:defRPr>
            </a:pPr>
            <a:r>
              <a:t>3. Middleware &amp; System Interoperability</a:t>
            </a:r>
          </a:p>
          <a:p>
            <a:pPr>
              <a:spcBef>
                <a:spcPts val="300"/>
              </a:spcBef>
              <a:defRPr sz="1100">
                <a:solidFill>
                  <a:srgbClr val="E2E8F0"/>
                </a:solidFill>
              </a:defRPr>
            </a:pPr>
            <a:r>
              <a:t>Examining the middleware bridging capture hardware, feature extraction engines, template databases, and distributed network authentication protocols.</a:t>
            </a:r>
          </a:p>
        </p:txBody>
      </p:sp>
      <p:sp>
        <p:nvSpPr>
          <p:cNvPr id="12" name="Rounded Rectangle 11"/>
          <p:cNvSpPr/>
          <p:nvPr/>
        </p:nvSpPr>
        <p:spPr>
          <a:xfrm>
            <a:off x="731520" y="5175504"/>
            <a:ext cx="10728655" cy="1078992"/>
          </a:xfrm>
          <a:prstGeom prst="roundRect">
            <a:avLst/>
          </a:prstGeom>
          <a:solidFill>
            <a:srgbClr val="1822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266944"/>
            <a:ext cx="10332720" cy="896112"/>
          </a:xfrm>
          <a:prstGeom prst="rect">
            <a:avLst/>
          </a:prstGeom>
          <a:noFill/>
        </p:spPr>
        <p:txBody>
          <a:bodyPr wrap="square">
            <a:spAutoFit/>
          </a:bodyPr>
          <a:lstStyle/>
          <a:p>
            <a:pPr>
              <a:defRPr sz="1400" b="1">
                <a:solidFill>
                  <a:srgbClr val="F59E0B"/>
                </a:solidFill>
              </a:defRPr>
            </a:pPr>
            <a:r>
              <a:t>4. Security, Privacy &amp; Sociocultural Concerns</a:t>
            </a:r>
          </a:p>
          <a:p>
            <a:pPr>
              <a:spcBef>
                <a:spcPts val="300"/>
              </a:spcBef>
              <a:defRPr sz="1100">
                <a:solidFill>
                  <a:srgbClr val="E2E8F0"/>
                </a:solidFill>
              </a:defRPr>
            </a:pPr>
            <a:r>
              <a:t>Critical evaluation of privacy threats (function creep, covert tracking), physical intrusiveness, and religious/societal barriers affecting public deployment.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6B6D4"/>
                </a:solidFill>
              </a:defRPr>
            </a:pPr>
            <a:r>
              <a:t>ICS 6140: COMPUTER SYSTEMS SECURITY | BIOMETRIC SECURITY SYSTEMS</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Application Domains: Physical vs. Logical Access Control</a:t>
            </a:r>
          </a:p>
        </p:txBody>
      </p:sp>
      <p:sp>
        <p:nvSpPr>
          <p:cNvPr id="5" name="Rectangle 4"/>
          <p:cNvSpPr/>
          <p:nvPr/>
        </p:nvSpPr>
        <p:spPr>
          <a:xfrm>
            <a:off x="731520" y="137160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182235"/>
          </a:solidFill>
          <a:ln w="1905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4754880" cy="4389120"/>
          </a:xfrm>
          <a:prstGeom prst="rect">
            <a:avLst/>
          </a:prstGeom>
          <a:noFill/>
        </p:spPr>
        <p:txBody>
          <a:bodyPr wrap="square">
            <a:spAutoFit/>
          </a:bodyPr>
          <a:lstStyle/>
          <a:p>
            <a:pPr>
              <a:defRPr sz="1600" b="1">
                <a:solidFill>
                  <a:srgbClr val="3B82F6"/>
                </a:solidFill>
              </a:defRPr>
            </a:pPr>
            <a:r>
              <a:t>1. Physical Access Control</a:t>
            </a:r>
          </a:p>
          <a:p>
            <a:pPr>
              <a:spcBef>
                <a:spcPts val="800"/>
              </a:spcBef>
              <a:defRPr sz="1150">
                <a:solidFill>
                  <a:srgbClr val="E2E8F0"/>
                </a:solidFill>
              </a:defRPr>
            </a:pPr>
            <a:r>
              <a:t>• Objective: Regulate physical human movement into secure locations, facilities, and hardware enclosures.</a:t>
            </a:r>
          </a:p>
          <a:p>
            <a:pPr>
              <a:spcBef>
                <a:spcPts val="800"/>
              </a:spcBef>
              <a:defRPr sz="1150">
                <a:solidFill>
                  <a:srgbClr val="E2E8F0"/>
                </a:solidFill>
              </a:defRPr>
            </a:pPr>
            <a:r>
              <a:t>• Target Environments: High-security data centers, hospital patient rooms, military installations, airport immigration checkpoints.</a:t>
            </a:r>
          </a:p>
          <a:p>
            <a:pPr>
              <a:spcBef>
                <a:spcPts val="800"/>
              </a:spcBef>
              <a:defRPr sz="1150">
                <a:solidFill>
                  <a:srgbClr val="E2E8F0"/>
                </a:solidFill>
              </a:defRPr>
            </a:pPr>
            <a:r>
              <a:t>• Elimination of Human Vulnerabilities: Removes badge duplication, stolen key fobs, and unauthorized tailgating.</a:t>
            </a:r>
          </a:p>
          <a:p>
            <a:pPr>
              <a:spcBef>
                <a:spcPts val="800"/>
              </a:spcBef>
              <a:defRPr sz="1150">
                <a:solidFill>
                  <a:srgbClr val="E2E8F0"/>
                </a:solidFill>
              </a:defRPr>
            </a:pPr>
            <a:r>
              <a:t>• Primary Modalities Used: Fingerprint readers, fast-throughput face scanners, palm vein sensors at entry turnstiles.</a:t>
            </a:r>
          </a:p>
        </p:txBody>
      </p:sp>
      <p:sp>
        <p:nvSpPr>
          <p:cNvPr id="8" name="Rounded Rectangle 7"/>
          <p:cNvSpPr/>
          <p:nvPr/>
        </p:nvSpPr>
        <p:spPr>
          <a:xfrm>
            <a:off x="6339535" y="1554480"/>
            <a:ext cx="5120640" cy="4754880"/>
          </a:xfrm>
          <a:prstGeom prst="roundRect">
            <a:avLst/>
          </a:prstGeom>
          <a:solidFill>
            <a:srgbClr val="182235"/>
          </a:solidFill>
          <a:ln w="1905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2415" y="1737360"/>
            <a:ext cx="4754880" cy="4389120"/>
          </a:xfrm>
          <a:prstGeom prst="rect">
            <a:avLst/>
          </a:prstGeom>
          <a:noFill/>
        </p:spPr>
        <p:txBody>
          <a:bodyPr wrap="square">
            <a:spAutoFit/>
          </a:bodyPr>
          <a:lstStyle/>
          <a:p>
            <a:pPr>
              <a:defRPr sz="1600" b="1">
                <a:solidFill>
                  <a:srgbClr val="06B6D4"/>
                </a:solidFill>
              </a:defRPr>
            </a:pPr>
            <a:r>
              <a:t>2. Logical Access Control &amp; Middleware</a:t>
            </a:r>
          </a:p>
          <a:p>
            <a:pPr>
              <a:spcBef>
                <a:spcPts val="800"/>
              </a:spcBef>
              <a:defRPr sz="1150">
                <a:solidFill>
                  <a:srgbClr val="E2E8F0"/>
                </a:solidFill>
              </a:defRPr>
            </a:pPr>
            <a:r>
              <a:t>• Objective: Control access to software, network endpoints, operating system logons, and sensitive enterprise databases.</a:t>
            </a:r>
          </a:p>
          <a:p>
            <a:pPr>
              <a:spcBef>
                <a:spcPts val="800"/>
              </a:spcBef>
              <a:defRPr sz="1150">
                <a:solidFill>
                  <a:srgbClr val="E2E8F0"/>
                </a:solidFill>
              </a:defRPr>
            </a:pPr>
            <a:r>
              <a:t>• Cybersecurity Impact: Replaces weak passwords with strong, unforgeable single sign-on (SSO) biometric tokens.</a:t>
            </a:r>
          </a:p>
          <a:p>
            <a:pPr>
              <a:spcBef>
                <a:spcPts val="800"/>
              </a:spcBef>
              <a:defRPr sz="1150">
                <a:solidFill>
                  <a:srgbClr val="E2E8F0"/>
                </a:solidFill>
              </a:defRPr>
            </a:pPr>
            <a:r>
              <a:t>• Middleware Layer: Acts as the crucial software bridge connecting distributed biometric scanners to backend verification servers.</a:t>
            </a:r>
          </a:p>
          <a:p>
            <a:pPr>
              <a:spcBef>
                <a:spcPts val="800"/>
              </a:spcBef>
              <a:defRPr sz="1150">
                <a:solidFill>
                  <a:srgbClr val="E2E8F0"/>
                </a:solidFill>
              </a:defRPr>
            </a:pPr>
            <a:r>
              <a:t>• Interoperability: Normalizes heterogeneous raw biometric signals into standard cryptographic template formats across the enterprise network.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6B6D4"/>
                </a:solidFill>
              </a:defRPr>
            </a:pPr>
            <a:r>
              <a:t>ICS 6140: COMPUTER SYSTEMS SECURITY | BIOMETRIC SECURITY SYSTEMS</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Taxonomy of Biometric Solutions &amp; Feature Extraction</a:t>
            </a:r>
          </a:p>
        </p:txBody>
      </p:sp>
      <p:sp>
        <p:nvSpPr>
          <p:cNvPr id="5" name="Rectangle 4"/>
          <p:cNvSpPr/>
          <p:nvPr/>
        </p:nvSpPr>
        <p:spPr>
          <a:xfrm>
            <a:off x="731520" y="137160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2514600" cy="2240280"/>
          </a:xfrm>
          <a:prstGeom prst="roundRect">
            <a:avLst/>
          </a:prstGeom>
          <a:solidFill>
            <a:srgbClr val="1822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91640"/>
            <a:ext cx="2240280" cy="1965960"/>
          </a:xfrm>
          <a:prstGeom prst="rect">
            <a:avLst/>
          </a:prstGeom>
          <a:noFill/>
        </p:spPr>
        <p:txBody>
          <a:bodyPr wrap="square">
            <a:spAutoFit/>
          </a:bodyPr>
          <a:lstStyle/>
          <a:p>
            <a:pPr>
              <a:defRPr sz="1300" b="1">
                <a:solidFill>
                  <a:srgbClr val="FFFFFF"/>
                </a:solidFill>
              </a:defRPr>
            </a:pPr>
            <a:r>
              <a:t>1. Fingerprint Reader</a:t>
            </a:r>
          </a:p>
          <a:p>
            <a:pPr>
              <a:spcBef>
                <a:spcPts val="200"/>
              </a:spcBef>
              <a:defRPr sz="1000" b="1">
                <a:solidFill>
                  <a:srgbClr val="3B82F6"/>
                </a:solidFill>
              </a:defRPr>
            </a:pPr>
            <a:r>
              <a:t>Minutiae &amp; Pattern Matching</a:t>
            </a:r>
          </a:p>
          <a:p>
            <a:pPr>
              <a:spcBef>
                <a:spcPts val="500"/>
              </a:spcBef>
              <a:defRPr sz="950">
                <a:solidFill>
                  <a:srgbClr val="E2E8F0"/>
                </a:solidFill>
              </a:defRPr>
            </a:pPr>
            <a:r>
              <a:t>Analyzes ridge endings and bifurcations; patterns divided into Loops (60%), Whorls (34%), and Arches (5%).</a:t>
            </a:r>
          </a:p>
        </p:txBody>
      </p:sp>
      <p:sp>
        <p:nvSpPr>
          <p:cNvPr id="8" name="Rounded Rectangle 7"/>
          <p:cNvSpPr/>
          <p:nvPr/>
        </p:nvSpPr>
        <p:spPr>
          <a:xfrm>
            <a:off x="3465576" y="1554480"/>
            <a:ext cx="2514600" cy="2240280"/>
          </a:xfrm>
          <a:prstGeom prst="roundRect">
            <a:avLst/>
          </a:prstGeom>
          <a:solidFill>
            <a:srgbClr val="1822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2736" y="1691640"/>
            <a:ext cx="2240280" cy="1965960"/>
          </a:xfrm>
          <a:prstGeom prst="rect">
            <a:avLst/>
          </a:prstGeom>
          <a:noFill/>
        </p:spPr>
        <p:txBody>
          <a:bodyPr wrap="square">
            <a:spAutoFit/>
          </a:bodyPr>
          <a:lstStyle/>
          <a:p>
            <a:pPr>
              <a:defRPr sz="1300" b="1">
                <a:solidFill>
                  <a:srgbClr val="FFFFFF"/>
                </a:solidFill>
              </a:defRPr>
            </a:pPr>
            <a:r>
              <a:t>2. Facial Recognition</a:t>
            </a:r>
          </a:p>
          <a:p>
            <a:pPr>
              <a:spcBef>
                <a:spcPts val="200"/>
              </a:spcBef>
              <a:defRPr sz="1000" b="1">
                <a:solidFill>
                  <a:srgbClr val="06B6D4"/>
                </a:solidFill>
              </a:defRPr>
            </a:pPr>
            <a:r>
              <a:t>Geometric &amp; 3D Feature Mapping</a:t>
            </a:r>
          </a:p>
          <a:p>
            <a:pPr>
              <a:spcBef>
                <a:spcPts val="500"/>
              </a:spcBef>
              <a:defRPr sz="950">
                <a:solidFill>
                  <a:srgbClr val="E2E8F0"/>
                </a:solidFill>
              </a:defRPr>
            </a:pPr>
            <a:r>
              <a:t>Measures nodal distances (eyes, nose, jawline); highly convenient/contactless but sensitive to aging and lighting.</a:t>
            </a:r>
          </a:p>
        </p:txBody>
      </p:sp>
      <p:sp>
        <p:nvSpPr>
          <p:cNvPr id="10" name="Rounded Rectangle 9"/>
          <p:cNvSpPr/>
          <p:nvPr/>
        </p:nvSpPr>
        <p:spPr>
          <a:xfrm>
            <a:off x="6199632" y="1554480"/>
            <a:ext cx="2514600" cy="2240280"/>
          </a:xfrm>
          <a:prstGeom prst="roundRect">
            <a:avLst/>
          </a:prstGeom>
          <a:solidFill>
            <a:srgbClr val="1822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691640"/>
            <a:ext cx="2240280" cy="1965960"/>
          </a:xfrm>
          <a:prstGeom prst="rect">
            <a:avLst/>
          </a:prstGeom>
          <a:noFill/>
        </p:spPr>
        <p:txBody>
          <a:bodyPr wrap="square">
            <a:spAutoFit/>
          </a:bodyPr>
          <a:lstStyle/>
          <a:p>
            <a:pPr>
              <a:defRPr sz="1300" b="1">
                <a:solidFill>
                  <a:srgbClr val="FFFFFF"/>
                </a:solidFill>
              </a:defRPr>
            </a:pPr>
            <a:r>
              <a:t>3. Iris / Retinal Scan</a:t>
            </a:r>
          </a:p>
          <a:p>
            <a:pPr>
              <a:spcBef>
                <a:spcPts val="200"/>
              </a:spcBef>
              <a:defRPr sz="1000" b="1">
                <a:solidFill>
                  <a:srgbClr val="10B981"/>
                </a:solidFill>
              </a:defRPr>
            </a:pPr>
            <a:r>
              <a:t>Complex Furrow &amp; Corona Analysis</a:t>
            </a:r>
          </a:p>
          <a:p>
            <a:pPr>
              <a:spcBef>
                <a:spcPts val="500"/>
              </a:spcBef>
              <a:defRPr sz="950">
                <a:solidFill>
                  <a:srgbClr val="E2E8F0"/>
                </a:solidFill>
              </a:defRPr>
            </a:pPr>
            <a:r>
              <a:t>Scans over 200 distinct iris points; highest biological stability, unaffected by glasses, contacts, or eye surgery.</a:t>
            </a:r>
          </a:p>
        </p:txBody>
      </p:sp>
      <p:sp>
        <p:nvSpPr>
          <p:cNvPr id="12" name="Rounded Rectangle 11"/>
          <p:cNvSpPr/>
          <p:nvPr/>
        </p:nvSpPr>
        <p:spPr>
          <a:xfrm>
            <a:off x="8933688" y="1554480"/>
            <a:ext cx="2514600" cy="2240280"/>
          </a:xfrm>
          <a:prstGeom prst="roundRect">
            <a:avLst/>
          </a:prstGeom>
          <a:solidFill>
            <a:srgbClr val="1822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70848" y="1691640"/>
            <a:ext cx="2240280" cy="1965960"/>
          </a:xfrm>
          <a:prstGeom prst="rect">
            <a:avLst/>
          </a:prstGeom>
          <a:noFill/>
        </p:spPr>
        <p:txBody>
          <a:bodyPr wrap="square">
            <a:spAutoFit/>
          </a:bodyPr>
          <a:lstStyle/>
          <a:p>
            <a:pPr>
              <a:defRPr sz="1300" b="1">
                <a:solidFill>
                  <a:srgbClr val="FFFFFF"/>
                </a:solidFill>
              </a:defRPr>
            </a:pPr>
            <a:r>
              <a:t>4. Palm Vein Recognition</a:t>
            </a:r>
          </a:p>
          <a:p>
            <a:pPr>
              <a:spcBef>
                <a:spcPts val="200"/>
              </a:spcBef>
              <a:defRPr sz="1000" b="1">
                <a:solidFill>
                  <a:srgbClr val="F59E0B"/>
                </a:solidFill>
              </a:defRPr>
            </a:pPr>
            <a:r>
              <a:t>Subcutaneous Infrared Mapping</a:t>
            </a:r>
          </a:p>
          <a:p>
            <a:pPr>
              <a:spcBef>
                <a:spcPts val="500"/>
              </a:spcBef>
              <a:defRPr sz="950">
                <a:solidFill>
                  <a:srgbClr val="E2E8F0"/>
                </a:solidFill>
              </a:defRPr>
            </a:pPr>
            <a:r>
              <a:t>Captures deoxidized hemoglobin vascular patterns via near-infrared light; fast (0.5s), contactless, highly spoof-resistant.</a:t>
            </a:r>
          </a:p>
        </p:txBody>
      </p:sp>
      <p:sp>
        <p:nvSpPr>
          <p:cNvPr id="14" name="Rounded Rectangle 13"/>
          <p:cNvSpPr/>
          <p:nvPr/>
        </p:nvSpPr>
        <p:spPr>
          <a:xfrm>
            <a:off x="731520" y="4023360"/>
            <a:ext cx="3419856" cy="2240280"/>
          </a:xfrm>
          <a:prstGeom prst="roundRect">
            <a:avLst/>
          </a:prstGeom>
          <a:solidFill>
            <a:srgbClr val="1822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160520"/>
            <a:ext cx="3145536" cy="1965960"/>
          </a:xfrm>
          <a:prstGeom prst="rect">
            <a:avLst/>
          </a:prstGeom>
          <a:noFill/>
        </p:spPr>
        <p:txBody>
          <a:bodyPr wrap="square">
            <a:spAutoFit/>
          </a:bodyPr>
          <a:lstStyle/>
          <a:p>
            <a:pPr>
              <a:defRPr sz="1300" b="1">
                <a:solidFill>
                  <a:srgbClr val="FFFFFF"/>
                </a:solidFill>
              </a:defRPr>
            </a:pPr>
            <a:r>
              <a:t>5. Voice Recognition</a:t>
            </a:r>
          </a:p>
          <a:p>
            <a:pPr>
              <a:spcBef>
                <a:spcPts val="200"/>
              </a:spcBef>
              <a:defRPr sz="1000" b="1">
                <a:solidFill>
                  <a:srgbClr val="06B6D4"/>
                </a:solidFill>
              </a:defRPr>
            </a:pPr>
            <a:r>
              <a:t>Vocal Tract &amp; Behavioral Accent</a:t>
            </a:r>
          </a:p>
          <a:p>
            <a:pPr>
              <a:spcBef>
                <a:spcPts val="500"/>
              </a:spcBef>
              <a:defRPr sz="950">
                <a:solidFill>
                  <a:srgbClr val="E2E8F0"/>
                </a:solidFill>
              </a:defRPr>
            </a:pPr>
            <a:r>
              <a:t>Combines physiological vocal tract with acoustic pitch; dynamic passphrase challenges mitigate replay attacks.</a:t>
            </a:r>
          </a:p>
        </p:txBody>
      </p:sp>
      <p:sp>
        <p:nvSpPr>
          <p:cNvPr id="16" name="Rounded Rectangle 15"/>
          <p:cNvSpPr/>
          <p:nvPr/>
        </p:nvSpPr>
        <p:spPr>
          <a:xfrm>
            <a:off x="4379976" y="4023360"/>
            <a:ext cx="3419856" cy="2240280"/>
          </a:xfrm>
          <a:prstGeom prst="roundRect">
            <a:avLst/>
          </a:prstGeom>
          <a:solidFill>
            <a:srgbClr val="18223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17136" y="4160520"/>
            <a:ext cx="3145536" cy="1965960"/>
          </a:xfrm>
          <a:prstGeom prst="rect">
            <a:avLst/>
          </a:prstGeom>
          <a:noFill/>
        </p:spPr>
        <p:txBody>
          <a:bodyPr wrap="square">
            <a:spAutoFit/>
          </a:bodyPr>
          <a:lstStyle/>
          <a:p>
            <a:pPr>
              <a:defRPr sz="1300" b="1">
                <a:solidFill>
                  <a:srgbClr val="FFFFFF"/>
                </a:solidFill>
              </a:defRPr>
            </a:pPr>
            <a:r>
              <a:t>6. DNA Biometrics</a:t>
            </a:r>
          </a:p>
          <a:p>
            <a:pPr>
              <a:spcBef>
                <a:spcPts val="200"/>
              </a:spcBef>
              <a:defRPr sz="1000" b="1">
                <a:solidFill>
                  <a:srgbClr val="EF4444"/>
                </a:solidFill>
              </a:defRPr>
            </a:pPr>
            <a:r>
              <a:t>VNTR Tandem Repeat Loci</a:t>
            </a:r>
          </a:p>
          <a:p>
            <a:pPr>
              <a:spcBef>
                <a:spcPts val="500"/>
              </a:spcBef>
              <a:defRPr sz="950">
                <a:solidFill>
                  <a:srgbClr val="E2E8F0"/>
                </a:solidFill>
              </a:defRPr>
            </a:pPr>
            <a:r>
              <a:t>Highest theoretical uniqueness; requires chemical sample lysis and PCR, currently limited by latency and cost.</a:t>
            </a:r>
          </a:p>
        </p:txBody>
      </p:sp>
      <p:sp>
        <p:nvSpPr>
          <p:cNvPr id="18" name="Rounded Rectangle 17"/>
          <p:cNvSpPr/>
          <p:nvPr/>
        </p:nvSpPr>
        <p:spPr>
          <a:xfrm>
            <a:off x="8028432" y="4023360"/>
            <a:ext cx="3419856" cy="2240280"/>
          </a:xfrm>
          <a:prstGeom prst="roundRect">
            <a:avLst/>
          </a:prstGeom>
          <a:solidFill>
            <a:srgbClr val="1822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65592" y="4160520"/>
            <a:ext cx="3145536" cy="1965960"/>
          </a:xfrm>
          <a:prstGeom prst="rect">
            <a:avLst/>
          </a:prstGeom>
          <a:noFill/>
        </p:spPr>
        <p:txBody>
          <a:bodyPr wrap="square">
            <a:spAutoFit/>
          </a:bodyPr>
          <a:lstStyle/>
          <a:p>
            <a:pPr>
              <a:defRPr sz="1300" b="1">
                <a:solidFill>
                  <a:srgbClr val="FFFFFF"/>
                </a:solidFill>
              </a:defRPr>
            </a:pPr>
            <a:r>
              <a:t>7. 2D Barcode Integration</a:t>
            </a:r>
          </a:p>
          <a:p>
            <a:pPr>
              <a:spcBef>
                <a:spcPts val="200"/>
              </a:spcBef>
              <a:defRPr sz="1000" b="1">
                <a:solidFill>
                  <a:srgbClr val="3B82F6"/>
                </a:solidFill>
              </a:defRPr>
            </a:pPr>
            <a:r>
              <a:t>Encrypted Document Matrix</a:t>
            </a:r>
          </a:p>
          <a:p>
            <a:pPr>
              <a:spcBef>
                <a:spcPts val="500"/>
              </a:spcBef>
              <a:defRPr sz="950">
                <a:solidFill>
                  <a:srgbClr val="E2E8F0"/>
                </a:solidFill>
              </a:defRPr>
            </a:pPr>
            <a:r>
              <a:t>Embeds compressed cryptographic biometric signatures directly onto physical smart ID cards and passports.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6B6D4"/>
                </a:solidFill>
              </a:defRPr>
            </a:pPr>
            <a:r>
              <a:t>ICS 6140: COMPUTER SYSTEMS SECURITY | BIOMETRIC SECURITY SYSTEMS</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Comparative Analysis: Accuracy, Speed, and Usability Metrics</a:t>
            </a:r>
          </a:p>
        </p:txBody>
      </p:sp>
      <p:sp>
        <p:nvSpPr>
          <p:cNvPr id="5" name="Rectangle 4"/>
          <p:cNvSpPr/>
          <p:nvPr/>
        </p:nvSpPr>
        <p:spPr>
          <a:xfrm>
            <a:off x="731520" y="137160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2514600" cy="1645920"/>
          </a:xfrm>
          <a:prstGeom prst="roundRect">
            <a:avLst/>
          </a:prstGeom>
          <a:solidFill>
            <a:srgbClr val="1822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45920"/>
            <a:ext cx="2331720" cy="1463040"/>
          </a:xfrm>
          <a:prstGeom prst="rect">
            <a:avLst/>
          </a:prstGeom>
          <a:noFill/>
        </p:spPr>
        <p:txBody>
          <a:bodyPr wrap="square">
            <a:spAutoFit/>
          </a:bodyPr>
          <a:lstStyle/>
          <a:p>
            <a:pPr>
              <a:defRPr sz="2200" b="1">
                <a:solidFill>
                  <a:srgbClr val="10B981"/>
                </a:solidFill>
              </a:defRPr>
            </a:pPr>
            <a:r>
              <a:t>99.9%</a:t>
            </a:r>
          </a:p>
          <a:p>
            <a:pPr>
              <a:spcBef>
                <a:spcPts val="200"/>
              </a:spcBef>
              <a:defRPr sz="900" b="1">
                <a:solidFill>
                  <a:srgbClr val="FFFFFF"/>
                </a:solidFill>
              </a:defRPr>
            </a:pPr>
            <a:r>
              <a:t>IRIS &amp; VEIN ACCURACY</a:t>
            </a:r>
          </a:p>
          <a:p>
            <a:pPr>
              <a:spcBef>
                <a:spcPts val="300"/>
              </a:spcBef>
              <a:defRPr sz="850">
                <a:solidFill>
                  <a:srgbClr val="94A3B8"/>
                </a:solidFill>
              </a:defRPr>
            </a:pPr>
            <a:r>
              <a:t>Highest commercial accuracy with near-zero False Acceptance Rates (FAR)</a:t>
            </a:r>
          </a:p>
        </p:txBody>
      </p:sp>
      <p:sp>
        <p:nvSpPr>
          <p:cNvPr id="8" name="Rounded Rectangle 7"/>
          <p:cNvSpPr/>
          <p:nvPr/>
        </p:nvSpPr>
        <p:spPr>
          <a:xfrm>
            <a:off x="3465576" y="1554480"/>
            <a:ext cx="2514600" cy="1645920"/>
          </a:xfrm>
          <a:prstGeom prst="roundRect">
            <a:avLst/>
          </a:prstGeom>
          <a:solidFill>
            <a:srgbClr val="1822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57016" y="1645920"/>
            <a:ext cx="2331720" cy="1463040"/>
          </a:xfrm>
          <a:prstGeom prst="rect">
            <a:avLst/>
          </a:prstGeom>
          <a:noFill/>
        </p:spPr>
        <p:txBody>
          <a:bodyPr wrap="square">
            <a:spAutoFit/>
          </a:bodyPr>
          <a:lstStyle/>
          <a:p>
            <a:pPr>
              <a:defRPr sz="2200" b="1">
                <a:solidFill>
                  <a:srgbClr val="06B6D4"/>
                </a:solidFill>
              </a:defRPr>
            </a:pPr>
            <a:r>
              <a:t>0.5 sec</a:t>
            </a:r>
          </a:p>
          <a:p>
            <a:pPr>
              <a:spcBef>
                <a:spcPts val="200"/>
              </a:spcBef>
              <a:defRPr sz="900" b="1">
                <a:solidFill>
                  <a:srgbClr val="FFFFFF"/>
                </a:solidFill>
              </a:defRPr>
            </a:pPr>
            <a:r>
              <a:t>VEIN SCAN SPEED</a:t>
            </a:r>
          </a:p>
          <a:p>
            <a:pPr>
              <a:spcBef>
                <a:spcPts val="300"/>
              </a:spcBef>
              <a:defRPr sz="850">
                <a:solidFill>
                  <a:srgbClr val="94A3B8"/>
                </a:solidFill>
              </a:defRPr>
            </a:pPr>
            <a:r>
              <a:t>Ultra-fast near-infrared verification time with low hardware complexity</a:t>
            </a:r>
          </a:p>
        </p:txBody>
      </p:sp>
      <p:sp>
        <p:nvSpPr>
          <p:cNvPr id="10" name="Rounded Rectangle 9"/>
          <p:cNvSpPr/>
          <p:nvPr/>
        </p:nvSpPr>
        <p:spPr>
          <a:xfrm>
            <a:off x="6199632" y="1554480"/>
            <a:ext cx="2514600" cy="1645920"/>
          </a:xfrm>
          <a:prstGeom prst="roundRect">
            <a:avLst/>
          </a:prstGeom>
          <a:solidFill>
            <a:srgbClr val="1822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1645920"/>
            <a:ext cx="2331720" cy="1463040"/>
          </a:xfrm>
          <a:prstGeom prst="rect">
            <a:avLst/>
          </a:prstGeom>
          <a:noFill/>
        </p:spPr>
        <p:txBody>
          <a:bodyPr wrap="square">
            <a:spAutoFit/>
          </a:bodyPr>
          <a:lstStyle/>
          <a:p>
            <a:pPr>
              <a:defRPr sz="2200" b="1">
                <a:solidFill>
                  <a:srgbClr val="3B82F6"/>
                </a:solidFill>
              </a:defRPr>
            </a:pPr>
            <a:r>
              <a:t>60% / 34%</a:t>
            </a:r>
          </a:p>
          <a:p>
            <a:pPr>
              <a:spcBef>
                <a:spcPts val="200"/>
              </a:spcBef>
              <a:defRPr sz="900" b="1">
                <a:solidFill>
                  <a:srgbClr val="FFFFFF"/>
                </a:solidFill>
              </a:defRPr>
            </a:pPr>
            <a:r>
              <a:t>FINGERPRINT PATTERNS</a:t>
            </a:r>
          </a:p>
          <a:p>
            <a:pPr>
              <a:spcBef>
                <a:spcPts val="300"/>
              </a:spcBef>
              <a:defRPr sz="850">
                <a:solidFill>
                  <a:srgbClr val="94A3B8"/>
                </a:solidFill>
              </a:defRPr>
            </a:pPr>
            <a:r>
              <a:t>Dominant distribution of Loops (60%) and Whorls (34%) across human populations</a:t>
            </a:r>
          </a:p>
        </p:txBody>
      </p:sp>
      <p:sp>
        <p:nvSpPr>
          <p:cNvPr id="12" name="Rounded Rectangle 11"/>
          <p:cNvSpPr/>
          <p:nvPr/>
        </p:nvSpPr>
        <p:spPr>
          <a:xfrm>
            <a:off x="8933688" y="1554480"/>
            <a:ext cx="2514600" cy="1645920"/>
          </a:xfrm>
          <a:prstGeom prst="roundRect">
            <a:avLst/>
          </a:prstGeom>
          <a:solidFill>
            <a:srgbClr val="1822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25128" y="1645920"/>
            <a:ext cx="2331720" cy="1463040"/>
          </a:xfrm>
          <a:prstGeom prst="rect">
            <a:avLst/>
          </a:prstGeom>
          <a:noFill/>
        </p:spPr>
        <p:txBody>
          <a:bodyPr wrap="square">
            <a:spAutoFit/>
          </a:bodyPr>
          <a:lstStyle/>
          <a:p>
            <a:pPr>
              <a:defRPr sz="2200" b="1">
                <a:solidFill>
                  <a:srgbClr val="F59E0B"/>
                </a:solidFill>
              </a:defRPr>
            </a:pPr>
            <a:r>
              <a:t>200+ Pts</a:t>
            </a:r>
          </a:p>
          <a:p>
            <a:pPr>
              <a:spcBef>
                <a:spcPts val="200"/>
              </a:spcBef>
              <a:defRPr sz="900" b="1">
                <a:solidFill>
                  <a:srgbClr val="FFFFFF"/>
                </a:solidFill>
              </a:defRPr>
            </a:pPr>
            <a:r>
              <a:t>IRIS FEATURE DENSITY</a:t>
            </a:r>
          </a:p>
          <a:p>
            <a:pPr>
              <a:spcBef>
                <a:spcPts val="300"/>
              </a:spcBef>
              <a:defRPr sz="850">
                <a:solidFill>
                  <a:srgbClr val="94A3B8"/>
                </a:solidFill>
              </a:defRPr>
            </a:pPr>
            <a:r>
              <a:t>Over 200 distinct textural points (coronas, furrows) analyzed per scan</a:t>
            </a:r>
          </a:p>
        </p:txBody>
      </p:sp>
      <p:sp>
        <p:nvSpPr>
          <p:cNvPr id="14" name="Rounded Rectangle 13"/>
          <p:cNvSpPr/>
          <p:nvPr/>
        </p:nvSpPr>
        <p:spPr>
          <a:xfrm>
            <a:off x="731520" y="3429000"/>
            <a:ext cx="10728655" cy="2880360"/>
          </a:xfrm>
          <a:prstGeom prst="roundRect">
            <a:avLst/>
          </a:prstGeom>
          <a:solidFill>
            <a:srgbClr val="182235"/>
          </a:solidFill>
          <a:ln w="1905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566160"/>
            <a:ext cx="10332720" cy="2606040"/>
          </a:xfrm>
          <a:prstGeom prst="rect">
            <a:avLst/>
          </a:prstGeom>
          <a:noFill/>
        </p:spPr>
        <p:txBody>
          <a:bodyPr wrap="square">
            <a:spAutoFit/>
          </a:bodyPr>
          <a:lstStyle/>
          <a:p>
            <a:pPr>
              <a:defRPr sz="1500" b="1">
                <a:solidFill>
                  <a:srgbClr val="06B6D4"/>
                </a:solidFill>
              </a:defRPr>
            </a:pPr>
            <a:r>
              <a:t>Key Comparative Insights &amp; Error Rate Dynamics</a:t>
            </a:r>
          </a:p>
          <a:p>
            <a:pPr>
              <a:spcBef>
                <a:spcPts val="600"/>
              </a:spcBef>
              <a:defRPr sz="1100">
                <a:solidFill>
                  <a:srgbClr val="E2E8F0"/>
                </a:solidFill>
              </a:defRPr>
            </a:pPr>
            <a:r>
              <a:t>• FAR vs. FRR Trade-off: High-security settings (military, data vaults) prioritize low False Acceptance Rates (FAR) over user convenience, while commercial consumer devices balance False Rejection Rates (FRR) to avoid user friction.</a:t>
            </a:r>
          </a:p>
          <a:p>
            <a:pPr>
              <a:spcBef>
                <a:spcPts val="600"/>
              </a:spcBef>
              <a:defRPr sz="1100">
                <a:solidFill>
                  <a:srgbClr val="E2E8F0"/>
                </a:solidFill>
              </a:defRPr>
            </a:pPr>
            <a:r>
              <a:t>• Environmental Vulnerabilities: Voice recognition degrades significantly in noisy ambient environments; optical facial recognition suffers from lighting shifts and facial expression changes.</a:t>
            </a:r>
          </a:p>
          <a:p>
            <a:pPr>
              <a:spcBef>
                <a:spcPts val="600"/>
              </a:spcBef>
              <a:defRPr sz="1100">
                <a:solidFill>
                  <a:srgbClr val="E2E8F0"/>
                </a:solidFill>
              </a:defRPr>
            </a:pPr>
            <a:r>
              <a:t>• Internal vs. External Traits: External traits (fingerprints, faces) leave latent physical residues susceptible to latent lifting. Internal traits (vein structures) require subcutaneous blood flow, eliminating residue attacks.</a:t>
            </a:r>
          </a:p>
          <a:p>
            <a:pPr>
              <a:spcBef>
                <a:spcPts val="600"/>
              </a:spcBef>
              <a:defRPr sz="1100">
                <a:solidFill>
                  <a:srgbClr val="E2E8F0"/>
                </a:solidFill>
              </a:defRPr>
            </a:pPr>
            <a:r>
              <a:t>• Cost vs. Throughput: Fingerprint and vein scanners offer the most cost-effective hardware footprint with sub-second verification, making them ideal for high-volume enterprise authentication.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6B6D4"/>
                </a:solidFill>
              </a:defRPr>
            </a:pPr>
            <a:r>
              <a:t>ICS 6140: COMPUTER SYSTEMS SECURITY | BIOMETRIC SECURITY SYSTEMS</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Critical Challenges: Information Privacy, Ethics &amp; Vulnerabilities</a:t>
            </a:r>
          </a:p>
        </p:txBody>
      </p:sp>
      <p:sp>
        <p:nvSpPr>
          <p:cNvPr id="5" name="Rectangle 4"/>
          <p:cNvSpPr/>
          <p:nvPr/>
        </p:nvSpPr>
        <p:spPr>
          <a:xfrm>
            <a:off x="731520" y="137160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18223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4754880" cy="4389120"/>
          </a:xfrm>
          <a:prstGeom prst="rect">
            <a:avLst/>
          </a:prstGeom>
          <a:noFill/>
        </p:spPr>
        <p:txBody>
          <a:bodyPr wrap="square">
            <a:spAutoFit/>
          </a:bodyPr>
          <a:lstStyle/>
          <a:p>
            <a:pPr>
              <a:defRPr sz="1600" b="1">
                <a:solidFill>
                  <a:srgbClr val="EF4444"/>
                </a:solidFill>
              </a:defRPr>
            </a:pPr>
            <a:r>
              <a:t>1. Privacy Threats &amp; Function Creep</a:t>
            </a:r>
          </a:p>
          <a:p>
            <a:pPr>
              <a:spcBef>
                <a:spcPts val="800"/>
              </a:spcBef>
              <a:defRPr sz="1150">
                <a:solidFill>
                  <a:srgbClr val="E2E8F0"/>
                </a:solidFill>
              </a:defRPr>
            </a:pPr>
            <a:r>
              <a:t>• Function Creep: The unauthorized expansion of biometric data beyond its original intended purpose (e.g., driver's license photo databases repurposed for national surveillance).</a:t>
            </a:r>
          </a:p>
          <a:p>
            <a:pPr>
              <a:spcBef>
                <a:spcPts val="800"/>
              </a:spcBef>
              <a:defRPr sz="1150">
                <a:solidFill>
                  <a:srgbClr val="E2E8F0"/>
                </a:solidFill>
              </a:defRPr>
            </a:pPr>
            <a:r>
              <a:t>• Covert Tracking &amp; Anonymity Loss: High-resolution facial recognition in public spaces allows passive, non-consensual tracking of citizens.</a:t>
            </a:r>
          </a:p>
          <a:p>
            <a:pPr>
              <a:spcBef>
                <a:spcPts val="800"/>
              </a:spcBef>
              <a:defRPr sz="1150">
                <a:solidFill>
                  <a:srgbClr val="E2E8F0"/>
                </a:solidFill>
              </a:defRPr>
            </a:pPr>
            <a:r>
              <a:t>• Irrevocability Dilemma: Unlike passwords or tokens, if a user's biometric template (e.g., raw fingerprint or retina) is compromised, it cannot be revoked, reset, or reissued for life.</a:t>
            </a:r>
          </a:p>
        </p:txBody>
      </p:sp>
      <p:sp>
        <p:nvSpPr>
          <p:cNvPr id="8" name="Rounded Rectangle 7"/>
          <p:cNvSpPr/>
          <p:nvPr/>
        </p:nvSpPr>
        <p:spPr>
          <a:xfrm>
            <a:off x="6339535" y="1554480"/>
            <a:ext cx="5120640" cy="4754880"/>
          </a:xfrm>
          <a:prstGeom prst="roundRect">
            <a:avLst/>
          </a:prstGeom>
          <a:solidFill>
            <a:srgbClr val="1822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2415" y="1737360"/>
            <a:ext cx="4754880" cy="4389120"/>
          </a:xfrm>
          <a:prstGeom prst="rect">
            <a:avLst/>
          </a:prstGeom>
          <a:noFill/>
        </p:spPr>
        <p:txBody>
          <a:bodyPr wrap="square">
            <a:spAutoFit/>
          </a:bodyPr>
          <a:lstStyle/>
          <a:p>
            <a:pPr>
              <a:defRPr sz="1600" b="1">
                <a:solidFill>
                  <a:srgbClr val="F59E0B"/>
                </a:solidFill>
              </a:defRPr>
            </a:pPr>
            <a:r>
              <a:t>2. Physical &amp; Sociocultural Barriers</a:t>
            </a:r>
          </a:p>
          <a:p>
            <a:pPr>
              <a:spcBef>
                <a:spcPts val="800"/>
              </a:spcBef>
              <a:defRPr sz="1150">
                <a:solidFill>
                  <a:srgbClr val="E2E8F0"/>
                </a:solidFill>
              </a:defRPr>
            </a:pPr>
            <a:r>
              <a:t>• Physical Alterations &amp; Illness: Fingerprint abrasions, throat infections affecting voice pitch, or eye trauma can lock legitimate users out (high FRR).</a:t>
            </a:r>
          </a:p>
          <a:p>
            <a:pPr>
              <a:spcBef>
                <a:spcPts val="800"/>
              </a:spcBef>
              <a:defRPr sz="1150">
                <a:solidFill>
                  <a:srgbClr val="E2E8F0"/>
                </a:solidFill>
              </a:defRPr>
            </a:pPr>
            <a:r>
              <a:t>• Perceived Invasiveness: Users frequently view retinal/iris scanning and DNA collection as intrusive or medically hazardous.</a:t>
            </a:r>
          </a:p>
          <a:p>
            <a:pPr>
              <a:spcBef>
                <a:spcPts val="800"/>
              </a:spcBef>
              <a:defRPr sz="1150">
                <a:solidFill>
                  <a:srgbClr val="E2E8F0"/>
                </a:solidFill>
              </a:defRPr>
            </a:pPr>
            <a:r>
              <a:t>• Hygiene Concerns: Contact-based fingerprint and palm scanners raise significant sanitation apprehensions in public environments.</a:t>
            </a:r>
          </a:p>
          <a:p>
            <a:pPr>
              <a:spcBef>
                <a:spcPts val="800"/>
              </a:spcBef>
              <a:defRPr sz="1150">
                <a:solidFill>
                  <a:srgbClr val="E2E8F0"/>
                </a:solidFill>
              </a:defRPr>
            </a:pPr>
            <a:r>
              <a:t>• Religious &amp; Societal Objections: Cultural opposition to body scanning or associations of 2D barcodes with physical marking (Woodward et 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6B6D4"/>
                </a:solidFill>
              </a:defRPr>
            </a:pPr>
            <a:r>
              <a:t>ICS 6140: COMPUTER SYSTEMS SECURITY | BIOMETRIC SECURITY SYSTEMS</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Critical Evaluation: Research Gaps in the Survey</a:t>
            </a:r>
          </a:p>
        </p:txBody>
      </p:sp>
      <p:sp>
        <p:nvSpPr>
          <p:cNvPr id="5" name="Rectangle 4"/>
          <p:cNvSpPr/>
          <p:nvPr/>
        </p:nvSpPr>
        <p:spPr>
          <a:xfrm>
            <a:off x="731520" y="137160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10728655" cy="1078992"/>
          </a:xfrm>
          <a:prstGeom prst="roundRect">
            <a:avLst/>
          </a:prstGeom>
          <a:solidFill>
            <a:srgbClr val="18223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10332720" cy="896112"/>
          </a:xfrm>
          <a:prstGeom prst="rect">
            <a:avLst/>
          </a:prstGeom>
          <a:noFill/>
        </p:spPr>
        <p:txBody>
          <a:bodyPr wrap="square">
            <a:spAutoFit/>
          </a:bodyPr>
          <a:lstStyle/>
          <a:p>
            <a:pPr>
              <a:defRPr sz="1400" b="1">
                <a:solidFill>
                  <a:srgbClr val="EF4444"/>
                </a:solidFill>
              </a:defRPr>
            </a:pPr>
            <a:r>
              <a:t>1. Presentation Attacks &amp; AI Deepfakes</a:t>
            </a:r>
          </a:p>
          <a:p>
            <a:pPr>
              <a:spcBef>
                <a:spcPts val="300"/>
              </a:spcBef>
              <a:defRPr sz="1100">
                <a:solidFill>
                  <a:srgbClr val="E2E8F0"/>
                </a:solidFill>
              </a:defRPr>
            </a:pPr>
            <a:r>
              <a:t>The survey predates modern generative AI, 3D silicone prosthetics, high-resolution iris print attacks, and deepfake synthetic voice cloning that bypass legacy static sensors.</a:t>
            </a:r>
          </a:p>
        </p:txBody>
      </p:sp>
      <p:sp>
        <p:nvSpPr>
          <p:cNvPr id="8" name="Rounded Rectangle 7"/>
          <p:cNvSpPr/>
          <p:nvPr/>
        </p:nvSpPr>
        <p:spPr>
          <a:xfrm>
            <a:off x="731520" y="2761488"/>
            <a:ext cx="10728655" cy="1078992"/>
          </a:xfrm>
          <a:prstGeom prst="roundRect">
            <a:avLst/>
          </a:prstGeom>
          <a:solidFill>
            <a:srgbClr val="1822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52928"/>
            <a:ext cx="10332720" cy="896112"/>
          </a:xfrm>
          <a:prstGeom prst="rect">
            <a:avLst/>
          </a:prstGeom>
          <a:noFill/>
        </p:spPr>
        <p:txBody>
          <a:bodyPr wrap="square">
            <a:spAutoFit/>
          </a:bodyPr>
          <a:lstStyle/>
          <a:p>
            <a:pPr>
              <a:defRPr sz="1400" b="1">
                <a:solidFill>
                  <a:srgbClr val="F59E0B"/>
                </a:solidFill>
              </a:defRPr>
            </a:pPr>
            <a:r>
              <a:t>2. Template Protection &amp; Cryptographic Vaults</a:t>
            </a:r>
          </a:p>
          <a:p>
            <a:pPr>
              <a:spcBef>
                <a:spcPts val="300"/>
              </a:spcBef>
              <a:defRPr sz="1100">
                <a:solidFill>
                  <a:srgbClr val="E2E8F0"/>
                </a:solidFill>
              </a:defRPr>
            </a:pPr>
            <a:r>
              <a:t>The paper does not detail cancelable biometrics, fuzzy extractors, or homomorphic encryption necessary to protect biometric templates stored in backend databases.</a:t>
            </a:r>
          </a:p>
        </p:txBody>
      </p:sp>
      <p:sp>
        <p:nvSpPr>
          <p:cNvPr id="10" name="Rounded Rectangle 9"/>
          <p:cNvSpPr/>
          <p:nvPr/>
        </p:nvSpPr>
        <p:spPr>
          <a:xfrm>
            <a:off x="731520" y="3968496"/>
            <a:ext cx="10728655" cy="1078992"/>
          </a:xfrm>
          <a:prstGeom prst="roundRect">
            <a:avLst/>
          </a:prstGeom>
          <a:solidFill>
            <a:srgbClr val="1822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59935"/>
            <a:ext cx="10332720" cy="896112"/>
          </a:xfrm>
          <a:prstGeom prst="rect">
            <a:avLst/>
          </a:prstGeom>
          <a:noFill/>
        </p:spPr>
        <p:txBody>
          <a:bodyPr wrap="square">
            <a:spAutoFit/>
          </a:bodyPr>
          <a:lstStyle/>
          <a:p>
            <a:pPr>
              <a:defRPr sz="1400" b="1">
                <a:solidFill>
                  <a:srgbClr val="06B6D4"/>
                </a:solidFill>
              </a:defRPr>
            </a:pPr>
            <a:r>
              <a:t>3. Absence of Multi-Modal Fusion Architectures</a:t>
            </a:r>
          </a:p>
          <a:p>
            <a:pPr>
              <a:spcBef>
                <a:spcPts val="300"/>
              </a:spcBef>
              <a:defRPr sz="1100">
                <a:solidFill>
                  <a:srgbClr val="E2E8F0"/>
                </a:solidFill>
              </a:defRPr>
            </a:pPr>
            <a:r>
              <a:t>The survey treats modalities in isolation, omitting hybrid multi-modal fusion architectures (e.g., combining Face + Iris + Voice) that drastically reduce single-sensor failure rates.</a:t>
            </a:r>
          </a:p>
        </p:txBody>
      </p:sp>
      <p:sp>
        <p:nvSpPr>
          <p:cNvPr id="12" name="Rounded Rectangle 11"/>
          <p:cNvSpPr/>
          <p:nvPr/>
        </p:nvSpPr>
        <p:spPr>
          <a:xfrm>
            <a:off x="731520" y="5175504"/>
            <a:ext cx="10728655" cy="1078992"/>
          </a:xfrm>
          <a:prstGeom prst="roundRect">
            <a:avLst/>
          </a:prstGeom>
          <a:solidFill>
            <a:srgbClr val="1822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266944"/>
            <a:ext cx="10332720" cy="896112"/>
          </a:xfrm>
          <a:prstGeom prst="rect">
            <a:avLst/>
          </a:prstGeom>
          <a:noFill/>
        </p:spPr>
        <p:txBody>
          <a:bodyPr wrap="square">
            <a:spAutoFit/>
          </a:bodyPr>
          <a:lstStyle/>
          <a:p>
            <a:pPr>
              <a:defRPr sz="1400" b="1">
                <a:solidFill>
                  <a:srgbClr val="3B82F6"/>
                </a:solidFill>
              </a:defRPr>
            </a:pPr>
            <a:r>
              <a:t>4. Regulatory &amp; Compliance Frameworks</a:t>
            </a:r>
          </a:p>
          <a:p>
            <a:pPr>
              <a:spcBef>
                <a:spcPts val="300"/>
              </a:spcBef>
              <a:defRPr sz="1100">
                <a:solidFill>
                  <a:srgbClr val="E2E8F0"/>
                </a:solidFill>
              </a:defRPr>
            </a:pPr>
            <a:r>
              <a:t>Lacks coverage of modern statutory biometric privacy frameworks (GDPR Article 9, CCPA, Illinois BIPA) that enforce strict consent, retention limits, and severe breach liabilities.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6B6D4"/>
                </a:solidFill>
              </a:defRPr>
            </a:pPr>
            <a:r>
              <a:t>ICS 6140: COMPUTER SYSTEMS SECURITY | BIOMETRIC SECURITY SYSTEMS</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Architectural Recommendations for Resilient Biometric Systems</a:t>
            </a:r>
          </a:p>
        </p:txBody>
      </p:sp>
      <p:sp>
        <p:nvSpPr>
          <p:cNvPr id="5" name="Rectangle 4"/>
          <p:cNvSpPr/>
          <p:nvPr/>
        </p:nvSpPr>
        <p:spPr>
          <a:xfrm>
            <a:off x="731520" y="137160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2240280"/>
          </a:xfrm>
          <a:prstGeom prst="roundRect">
            <a:avLst/>
          </a:prstGeom>
          <a:solidFill>
            <a:srgbClr val="1822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91639"/>
            <a:ext cx="4846320" cy="1965960"/>
          </a:xfrm>
          <a:prstGeom prst="rect">
            <a:avLst/>
          </a:prstGeom>
          <a:noFill/>
        </p:spPr>
        <p:txBody>
          <a:bodyPr wrap="square">
            <a:spAutoFit/>
          </a:bodyPr>
          <a:lstStyle/>
          <a:p>
            <a:pPr>
              <a:defRPr sz="1400" b="1">
                <a:solidFill>
                  <a:srgbClr val="06B6D4"/>
                </a:solidFill>
              </a:defRPr>
            </a:pPr>
            <a:r>
              <a:t>1. Multi-Modal Sensor Fusion</a:t>
            </a:r>
          </a:p>
          <a:p>
            <a:pPr>
              <a:spcBef>
                <a:spcPts val="800"/>
              </a:spcBef>
              <a:defRPr sz="1100">
                <a:solidFill>
                  <a:srgbClr val="E2E8F0"/>
                </a:solidFill>
              </a:defRPr>
            </a:pPr>
            <a:r>
              <a:t>Deploy multi-modal systems (e.g., Face + Iris or Fingerprint + Vascular Vein) to eliminate individual environmental weaknesses and achieve near-zero false rejection rates.</a:t>
            </a:r>
          </a:p>
        </p:txBody>
      </p:sp>
      <p:sp>
        <p:nvSpPr>
          <p:cNvPr id="8" name="Rounded Rectangle 7"/>
          <p:cNvSpPr/>
          <p:nvPr/>
        </p:nvSpPr>
        <p:spPr>
          <a:xfrm>
            <a:off x="6339535" y="1554480"/>
            <a:ext cx="5120640" cy="2240280"/>
          </a:xfrm>
          <a:prstGeom prst="roundRect">
            <a:avLst/>
          </a:prstGeom>
          <a:solidFill>
            <a:srgbClr val="1822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6695" y="1691639"/>
            <a:ext cx="4846320" cy="1965960"/>
          </a:xfrm>
          <a:prstGeom prst="rect">
            <a:avLst/>
          </a:prstGeom>
          <a:noFill/>
        </p:spPr>
        <p:txBody>
          <a:bodyPr wrap="square">
            <a:spAutoFit/>
          </a:bodyPr>
          <a:lstStyle/>
          <a:p>
            <a:pPr>
              <a:defRPr sz="1400" b="1">
                <a:solidFill>
                  <a:srgbClr val="10B981"/>
                </a:solidFill>
              </a:defRPr>
            </a:pPr>
            <a:r>
              <a:t>2. Hardware Liveness &amp; Anti-Spoofing</a:t>
            </a:r>
          </a:p>
          <a:p>
            <a:pPr>
              <a:spcBef>
                <a:spcPts val="800"/>
              </a:spcBef>
              <a:defRPr sz="1100">
                <a:solidFill>
                  <a:srgbClr val="E2E8F0"/>
                </a:solidFill>
              </a:defRPr>
            </a:pPr>
            <a:r>
              <a:t>Incorporate active liveness detection (infrared pupil reflex, thermal skin sensing, pulse oximetry) directly into sensor hardware to defeat 3D masks and replay attacks.</a:t>
            </a:r>
          </a:p>
        </p:txBody>
      </p:sp>
      <p:sp>
        <p:nvSpPr>
          <p:cNvPr id="10" name="Rounded Rectangle 9"/>
          <p:cNvSpPr/>
          <p:nvPr/>
        </p:nvSpPr>
        <p:spPr>
          <a:xfrm>
            <a:off x="731520" y="4023360"/>
            <a:ext cx="5120640" cy="2240280"/>
          </a:xfrm>
          <a:prstGeom prst="roundRect">
            <a:avLst/>
          </a:prstGeom>
          <a:solidFill>
            <a:srgbClr val="1822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60520"/>
            <a:ext cx="4846320" cy="1965960"/>
          </a:xfrm>
          <a:prstGeom prst="rect">
            <a:avLst/>
          </a:prstGeom>
          <a:noFill/>
        </p:spPr>
        <p:txBody>
          <a:bodyPr wrap="square">
            <a:spAutoFit/>
          </a:bodyPr>
          <a:lstStyle/>
          <a:p>
            <a:pPr>
              <a:defRPr sz="1400" b="1">
                <a:solidFill>
                  <a:srgbClr val="3B82F6"/>
                </a:solidFill>
              </a:defRPr>
            </a:pPr>
            <a:r>
              <a:t>3. Cancelable &amp; Encrypted Templates</a:t>
            </a:r>
          </a:p>
          <a:p>
            <a:pPr>
              <a:spcBef>
                <a:spcPts val="800"/>
              </a:spcBef>
              <a:defRPr sz="1100">
                <a:solidFill>
                  <a:srgbClr val="E2E8F0"/>
                </a:solidFill>
              </a:defRPr>
            </a:pPr>
            <a:r>
              <a:t>Store non-invertible transformed feature representations (Fuzzy Vaults, Homomorphic Hashes) so that compromised templates can be revoked and regenerated.</a:t>
            </a:r>
          </a:p>
        </p:txBody>
      </p:sp>
      <p:sp>
        <p:nvSpPr>
          <p:cNvPr id="12" name="Rounded Rectangle 11"/>
          <p:cNvSpPr/>
          <p:nvPr/>
        </p:nvSpPr>
        <p:spPr>
          <a:xfrm>
            <a:off x="6339535" y="4023360"/>
            <a:ext cx="5120640" cy="2240280"/>
          </a:xfrm>
          <a:prstGeom prst="roundRect">
            <a:avLst/>
          </a:prstGeom>
          <a:solidFill>
            <a:srgbClr val="1822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6695" y="4160520"/>
            <a:ext cx="4846320" cy="1965960"/>
          </a:xfrm>
          <a:prstGeom prst="rect">
            <a:avLst/>
          </a:prstGeom>
          <a:noFill/>
        </p:spPr>
        <p:txBody>
          <a:bodyPr wrap="square">
            <a:spAutoFit/>
          </a:bodyPr>
          <a:lstStyle/>
          <a:p>
            <a:pPr>
              <a:defRPr sz="1400" b="1">
                <a:solidFill>
                  <a:srgbClr val="F59E0B"/>
                </a:solidFill>
              </a:defRPr>
            </a:pPr>
            <a:r>
              <a:t>4. Zero-Trust Biometric MFA</a:t>
            </a:r>
          </a:p>
          <a:p>
            <a:pPr>
              <a:spcBef>
                <a:spcPts val="800"/>
              </a:spcBef>
              <a:defRPr sz="1100">
                <a:solidFill>
                  <a:srgbClr val="E2E8F0"/>
                </a:solidFill>
              </a:defRPr>
            </a:pPr>
            <a:r>
              <a:t>Combine biometric verification ('something you are') with cryptographic hardware security modules or TPMs ('something you have') within a continuous zero-trust framework.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822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05840"/>
            <a:ext cx="9966960" cy="4846320"/>
          </a:xfrm>
          <a:prstGeom prst="rect">
            <a:avLst/>
          </a:prstGeom>
          <a:noFill/>
        </p:spPr>
        <p:txBody>
          <a:bodyPr wrap="square">
            <a:spAutoFit/>
          </a:bodyPr>
          <a:lstStyle/>
          <a:p>
            <a:pPr>
              <a:defRPr sz="2400" b="1">
                <a:solidFill>
                  <a:srgbClr val="FFFFFF"/>
                </a:solidFill>
              </a:defRPr>
            </a:pPr>
            <a:r>
              <a:t>Conclusion &amp; Summary Takeaways</a:t>
            </a:r>
          </a:p>
          <a:p>
            <a:pPr>
              <a:spcBef>
                <a:spcPts val="800"/>
              </a:spcBef>
              <a:defRPr sz="1200">
                <a:solidFill>
                  <a:srgbClr val="E2E8F0"/>
                </a:solidFill>
              </a:defRPr>
            </a:pPr>
            <a:r>
              <a:t>✓  Biometric security systems replace vulnerable knowledge-based credentials with immutable physiological and behavioral identifiers.</a:t>
            </a:r>
          </a:p>
          <a:p>
            <a:pPr>
              <a:spcBef>
                <a:spcPts val="800"/>
              </a:spcBef>
              <a:defRPr sz="1200">
                <a:solidFill>
                  <a:srgbClr val="E2E8F0"/>
                </a:solidFill>
              </a:defRPr>
            </a:pPr>
            <a:r>
              <a:t>✓  Seven fundamental criteria (uniqueness, permanence, collectability, etc.) dictate the operational viability of any biometric implementation.</a:t>
            </a:r>
          </a:p>
          <a:p>
            <a:pPr>
              <a:spcBef>
                <a:spcPts val="800"/>
              </a:spcBef>
              <a:defRPr sz="1200">
                <a:solidFill>
                  <a:srgbClr val="E2E8F0"/>
                </a:solidFill>
              </a:defRPr>
            </a:pPr>
            <a:r>
              <a:t>✓  Vascular vein and iris scanning offer superior accuracy and anti-spoofing resilience, while fingerprint and face recognition lead in commercial adoption.</a:t>
            </a:r>
          </a:p>
          <a:p>
            <a:pPr>
              <a:spcBef>
                <a:spcPts val="800"/>
              </a:spcBef>
              <a:defRPr sz="1200">
                <a:solidFill>
                  <a:srgbClr val="E2E8F0"/>
                </a:solidFill>
              </a:defRPr>
            </a:pPr>
            <a:r>
              <a:t>✓  Critical challenges persist around the irrevocability of biological templates, function creep, surveillance privacy, and presentation attacks.</a:t>
            </a:r>
          </a:p>
          <a:p>
            <a:pPr>
              <a:spcBef>
                <a:spcPts val="800"/>
              </a:spcBef>
              <a:defRPr sz="1200">
                <a:solidFill>
                  <a:srgbClr val="E2E8F0"/>
                </a:solidFill>
              </a:defRPr>
            </a:pPr>
            <a:r>
              <a:t>✓  Future resilience requires multi-modal sensor fusion, hardware liveness detection, and privacy-preserving cancelable cryptographic templates.</a:t>
            </a:r>
          </a:p>
          <a:p>
            <a:pPr>
              <a:spcBef>
                <a:spcPts val="1600"/>
              </a:spcBef>
              <a:defRPr sz="1200" b="1">
                <a:solidFill>
                  <a:srgbClr val="06B6D4"/>
                </a:solidFill>
              </a:defRPr>
            </a:pPr>
            <a:r>
              <a:t>Jeff TARIMO (MSC-03-0008/2026)  |  ICS 6140: Biometric Security Systems  |  Thank You! Questions &amp; Discussion</a:t>
            </a:r>
          </a:p>
        </p:txBody>
      </p:sp>
      <p:sp>
        <p:nvSpPr>
          <p:cNvPr id="5" name="Rectangle 4"/>
          <p:cNvSpPr/>
          <p:nvPr/>
        </p:nvSpPr>
        <p:spPr>
          <a:xfrm>
            <a:off x="1097280" y="4937760"/>
            <a:ext cx="9966960"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